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8" r:id="rId3"/>
    <p:sldId id="257" r:id="rId4"/>
    <p:sldId id="259" r:id="rId5"/>
    <p:sldId id="260" r:id="rId6"/>
    <p:sldId id="262" r:id="rId7"/>
    <p:sldId id="263" r:id="rId8"/>
    <p:sldId id="266" r:id="rId9"/>
    <p:sldId id="267" r:id="rId10"/>
    <p:sldId id="268" r:id="rId11"/>
    <p:sldId id="269" r:id="rId12"/>
    <p:sldId id="270" r:id="rId13"/>
    <p:sldId id="271" r:id="rId14"/>
  </p:sldIdLst>
  <p:sldSz cx="12192000" cy="6858000"/>
  <p:notesSz cx="6858000" cy="9144000"/>
  <p:embeddedFontLst>
    <p:embeddedFont>
      <p:font typeface="JetBrains Mono" panose="020B0604020202020204" charset="0"/>
      <p:regular r:id="rId16"/>
      <p:bold r:id="rId17"/>
      <p:italic r:id="rId18"/>
      <p:boldItalic r:id="rId19"/>
    </p:embeddedFont>
    <p:embeddedFont>
      <p:font typeface="Urbanist" panose="020B060402020202020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EE3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5">
  <dgm:title val=""/>
  <dgm:desc val=""/>
  <dgm:catLst>
    <dgm:cat type="accent3" pri="11500"/>
  </dgm:catLst>
  <dgm:styleLbl name="node0">
    <dgm:fillClrLst meth="cycle"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>
        <a:alpha val="9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>
        <a:alpha val="90000"/>
      </a:schemeClr>
      <a:schemeClr val="accent3">
        <a:alpha val="5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/>
    <dgm:txEffectClrLst/>
  </dgm:styleLbl>
  <dgm:styleLbl name="lnNode1">
    <dgm:fillClrLst>
      <a:schemeClr val="accent3">
        <a:shade val="90000"/>
      </a:schemeClr>
      <a:schemeClr val="accent3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shade val="80000"/>
        <a:alpha val="50000"/>
      </a:schemeClr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  <a:alpha val="90000"/>
      </a:schemeClr>
      <a:schemeClr val="accent3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alpha val="90000"/>
        <a:tint val="40000"/>
      </a:schemeClr>
      <a:schemeClr val="accent3">
        <a:alpha val="5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46A122F-E103-4B44-9298-634E56F24B97}" type="doc">
      <dgm:prSet loTypeId="urn:microsoft.com/office/officeart/2005/8/layout/process4" loCatId="process" qsTypeId="urn:microsoft.com/office/officeart/2005/8/quickstyle/simple4" qsCatId="simple" csTypeId="urn:microsoft.com/office/officeart/2005/8/colors/accent3_5" csCatId="accent3" phldr="1"/>
      <dgm:spPr/>
      <dgm:t>
        <a:bodyPr/>
        <a:lstStyle/>
        <a:p>
          <a:endParaRPr lang="en-US"/>
        </a:p>
      </dgm:t>
    </dgm:pt>
    <dgm:pt modelId="{9FF4DE82-4AE3-4A93-A3A8-D1EC91938A0C}">
      <dgm:prSet phldrT="[Text]" phldr="0"/>
      <dgm:spPr/>
      <dgm:t>
        <a:bodyPr/>
        <a:lstStyle/>
        <a:p>
          <a:r>
            <a:rPr lang="en-US" b="1" dirty="0" err="1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Usethis</a:t>
          </a:r>
          <a:r>
            <a:rPr lang="en-US" b="1" dirty="0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::</a:t>
          </a:r>
          <a:r>
            <a:rPr lang="en-US" b="1" dirty="0" err="1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create_github_token</a:t>
          </a:r>
          <a:r>
            <a:rPr lang="en-US" b="1" dirty="0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()</a:t>
          </a:r>
        </a:p>
      </dgm:t>
    </dgm:pt>
    <dgm:pt modelId="{A12F850C-E39D-4B3D-8833-CB74C12FED4F}" type="parTrans" cxnId="{099C1B70-F0EB-47E9-A27C-A05A802C6EC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8F01E5DD-B15F-48C6-ABCF-C05DF5ADBE31}" type="sibTrans" cxnId="{099C1B70-F0EB-47E9-A27C-A05A802C6EC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EB7FEFAC-4022-46A2-96DA-21E3FD50D563}">
      <dgm:prSet phldrT="[Text]" phldr="0"/>
      <dgm:spPr/>
      <dgm:t>
        <a:bodyPr/>
        <a:lstStyle/>
        <a:p>
          <a:r>
            <a:rPr lang="en-US" i="1" dirty="0">
              <a:solidFill>
                <a:schemeClr val="tx1"/>
              </a:solidFill>
            </a:rPr>
            <a:t>Launches GitHub authentication Configuration</a:t>
          </a:r>
        </a:p>
      </dgm:t>
    </dgm:pt>
    <dgm:pt modelId="{086C0901-5C0B-406F-BD30-E9447317B264}" type="parTrans" cxnId="{837F5253-3BA7-453D-A7C2-64CB234999BD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8B4723BA-7EFB-42C5-8020-DD5A882F7C6F}" type="sibTrans" cxnId="{837F5253-3BA7-453D-A7C2-64CB234999BD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8A53FA2D-5476-44F4-8858-EA2D7C9188CC}">
      <dgm:prSet phldrT="[Text]" phldr="0"/>
      <dgm:spPr/>
      <dgm:t>
        <a:bodyPr/>
        <a:lstStyle/>
        <a:p>
          <a:r>
            <a:rPr lang="en-US" b="1" dirty="0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Generate Token</a:t>
          </a:r>
        </a:p>
      </dgm:t>
    </dgm:pt>
    <dgm:pt modelId="{C3C7A970-61A1-47DD-8BC7-0C2372FB453D}" type="parTrans" cxnId="{8E569D34-E009-4298-824E-F1C5739C1E81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5B5D042-7401-403E-81C0-E2E99083D13F}" type="sibTrans" cxnId="{8E569D34-E009-4298-824E-F1C5739C1E81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CF2489DE-5313-4438-8A51-A1003EE78C7C}">
      <dgm:prSet phldrT="[Text]" phldr="0"/>
      <dgm:spPr/>
      <dgm:t>
        <a:bodyPr/>
        <a:lstStyle/>
        <a:p>
          <a:r>
            <a:rPr lang="en-US" i="1" dirty="0">
              <a:solidFill>
                <a:schemeClr val="tx1"/>
              </a:solidFill>
            </a:rPr>
            <a:t>Generates a token. Copy this</a:t>
          </a:r>
        </a:p>
      </dgm:t>
    </dgm:pt>
    <dgm:pt modelId="{0E8F5CF4-731C-42C3-A4E3-D60E343963D4}" type="parTrans" cxnId="{9983405D-FC2E-415D-8EF1-D65EC34E0627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7E2FB05-F9AF-44EC-96A0-10DA9138F830}" type="sibTrans" cxnId="{9983405D-FC2E-415D-8EF1-D65EC34E0627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A5DC895-BB0C-40F8-B471-AC47FF787DD5}">
      <dgm:prSet phldrT="[Text]" phldr="0"/>
      <dgm:spPr/>
      <dgm:t>
        <a:bodyPr/>
        <a:lstStyle/>
        <a:p>
          <a:r>
            <a:rPr lang="en-US" b="1" dirty="0" err="1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gitcreds</a:t>
          </a:r>
          <a:r>
            <a:rPr lang="en-US" b="1" dirty="0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::</a:t>
          </a:r>
          <a:r>
            <a:rPr lang="en-US" b="1" dirty="0" err="1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gitcreds_set</a:t>
          </a:r>
          <a:r>
            <a:rPr lang="en-US" b="1" dirty="0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()</a:t>
          </a:r>
        </a:p>
      </dgm:t>
    </dgm:pt>
    <dgm:pt modelId="{6F63D350-D599-46F1-8AC7-01E5C536B5F9}" type="parTrans" cxnId="{B6E3E77B-69A4-4B97-A5EF-5030AF5796CA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FAAFCF2D-2A93-492E-BA09-8A8C9F64FFD0}" type="sibTrans" cxnId="{B6E3E77B-69A4-4B97-A5EF-5030AF5796CA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01BB52A4-F47B-4701-8DC2-C2D362D11BEA}">
      <dgm:prSet phldrT="[Text]" phldr="0"/>
      <dgm:spPr/>
      <dgm:t>
        <a:bodyPr/>
        <a:lstStyle/>
        <a:p>
          <a:r>
            <a:rPr lang="en-US" i="1" dirty="0">
              <a:solidFill>
                <a:schemeClr val="tx1"/>
              </a:solidFill>
            </a:rPr>
            <a:t>Paste the token here</a:t>
          </a:r>
        </a:p>
      </dgm:t>
    </dgm:pt>
    <dgm:pt modelId="{4B84767E-BAAF-4AA4-A449-7F6B7F2DAA30}" type="parTrans" cxnId="{E06A85F6-9853-45E8-8EE1-82EDCDAB610A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FC5811AD-BB09-4139-8EB4-C276B87A3603}" type="sibTrans" cxnId="{E06A85F6-9853-45E8-8EE1-82EDCDAB610A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639088EA-86CA-4D5F-81E0-F504D4FB20CC}" type="pres">
      <dgm:prSet presAssocID="{846A122F-E103-4B44-9298-634E56F24B97}" presName="Name0" presStyleCnt="0">
        <dgm:presLayoutVars>
          <dgm:dir/>
          <dgm:animLvl val="lvl"/>
          <dgm:resizeHandles val="exact"/>
        </dgm:presLayoutVars>
      </dgm:prSet>
      <dgm:spPr/>
    </dgm:pt>
    <dgm:pt modelId="{721861BE-0A6E-4F7D-AA99-D9788900AD4C}" type="pres">
      <dgm:prSet presAssocID="{DA5DC895-BB0C-40F8-B471-AC47FF787DD5}" presName="boxAndChildren" presStyleCnt="0"/>
      <dgm:spPr/>
    </dgm:pt>
    <dgm:pt modelId="{2E2CE860-9741-4824-A512-E59CE11345D0}" type="pres">
      <dgm:prSet presAssocID="{DA5DC895-BB0C-40F8-B471-AC47FF787DD5}" presName="parentTextBox" presStyleLbl="node1" presStyleIdx="0" presStyleCnt="3"/>
      <dgm:spPr/>
    </dgm:pt>
    <dgm:pt modelId="{28CF1DAA-44AC-4D8D-84EF-1340A6B8DF3E}" type="pres">
      <dgm:prSet presAssocID="{DA5DC895-BB0C-40F8-B471-AC47FF787DD5}" presName="entireBox" presStyleLbl="node1" presStyleIdx="0" presStyleCnt="3"/>
      <dgm:spPr/>
    </dgm:pt>
    <dgm:pt modelId="{D9743783-E986-4807-9A52-327A05CF1276}" type="pres">
      <dgm:prSet presAssocID="{DA5DC895-BB0C-40F8-B471-AC47FF787DD5}" presName="descendantBox" presStyleCnt="0"/>
      <dgm:spPr/>
    </dgm:pt>
    <dgm:pt modelId="{BF4277A5-6432-4F95-AD65-54BA2960A7A4}" type="pres">
      <dgm:prSet presAssocID="{01BB52A4-F47B-4701-8DC2-C2D362D11BEA}" presName="childTextBox" presStyleLbl="fgAccFollowNode1" presStyleIdx="0" presStyleCnt="3">
        <dgm:presLayoutVars>
          <dgm:bulletEnabled val="1"/>
        </dgm:presLayoutVars>
      </dgm:prSet>
      <dgm:spPr/>
    </dgm:pt>
    <dgm:pt modelId="{9A20B6E3-4304-4E27-9219-125F5F7561CF}" type="pres">
      <dgm:prSet presAssocID="{55B5D042-7401-403E-81C0-E2E99083D13F}" presName="sp" presStyleCnt="0"/>
      <dgm:spPr/>
    </dgm:pt>
    <dgm:pt modelId="{8DF9A2BE-2D66-4969-AE00-3EB45ACC57DB}" type="pres">
      <dgm:prSet presAssocID="{8A53FA2D-5476-44F4-8858-EA2D7C9188CC}" presName="arrowAndChildren" presStyleCnt="0"/>
      <dgm:spPr/>
    </dgm:pt>
    <dgm:pt modelId="{A7B497D3-8456-4DAE-8D2D-32262AE4E45E}" type="pres">
      <dgm:prSet presAssocID="{8A53FA2D-5476-44F4-8858-EA2D7C9188CC}" presName="parentTextArrow" presStyleLbl="node1" presStyleIdx="0" presStyleCnt="3"/>
      <dgm:spPr/>
    </dgm:pt>
    <dgm:pt modelId="{F8EB6A61-DC24-4717-94AC-74EF8D491873}" type="pres">
      <dgm:prSet presAssocID="{8A53FA2D-5476-44F4-8858-EA2D7C9188CC}" presName="arrow" presStyleLbl="node1" presStyleIdx="1" presStyleCnt="3"/>
      <dgm:spPr/>
    </dgm:pt>
    <dgm:pt modelId="{5512F83E-97C3-4760-8075-F0466174D8C5}" type="pres">
      <dgm:prSet presAssocID="{8A53FA2D-5476-44F4-8858-EA2D7C9188CC}" presName="descendantArrow" presStyleCnt="0"/>
      <dgm:spPr/>
    </dgm:pt>
    <dgm:pt modelId="{BCDC24D4-542C-412C-A82E-328C46DA3225}" type="pres">
      <dgm:prSet presAssocID="{CF2489DE-5313-4438-8A51-A1003EE78C7C}" presName="childTextArrow" presStyleLbl="fgAccFollowNode1" presStyleIdx="1" presStyleCnt="3">
        <dgm:presLayoutVars>
          <dgm:bulletEnabled val="1"/>
        </dgm:presLayoutVars>
      </dgm:prSet>
      <dgm:spPr/>
    </dgm:pt>
    <dgm:pt modelId="{215399F9-3445-48E3-9596-1006FE6AC478}" type="pres">
      <dgm:prSet presAssocID="{8F01E5DD-B15F-48C6-ABCF-C05DF5ADBE31}" presName="sp" presStyleCnt="0"/>
      <dgm:spPr/>
    </dgm:pt>
    <dgm:pt modelId="{38C2E0F2-548F-4592-A0C2-5526722E5416}" type="pres">
      <dgm:prSet presAssocID="{9FF4DE82-4AE3-4A93-A3A8-D1EC91938A0C}" presName="arrowAndChildren" presStyleCnt="0"/>
      <dgm:spPr/>
    </dgm:pt>
    <dgm:pt modelId="{D36A9558-9300-4802-852B-CD33D4F18457}" type="pres">
      <dgm:prSet presAssocID="{9FF4DE82-4AE3-4A93-A3A8-D1EC91938A0C}" presName="parentTextArrow" presStyleLbl="node1" presStyleIdx="1" presStyleCnt="3"/>
      <dgm:spPr/>
    </dgm:pt>
    <dgm:pt modelId="{BFFEBD7C-987E-440B-8E76-ADB9F767FCB7}" type="pres">
      <dgm:prSet presAssocID="{9FF4DE82-4AE3-4A93-A3A8-D1EC91938A0C}" presName="arrow" presStyleLbl="node1" presStyleIdx="2" presStyleCnt="3"/>
      <dgm:spPr/>
    </dgm:pt>
    <dgm:pt modelId="{5B9C669B-249C-4E7A-B682-C0CCC51CC789}" type="pres">
      <dgm:prSet presAssocID="{9FF4DE82-4AE3-4A93-A3A8-D1EC91938A0C}" presName="descendantArrow" presStyleCnt="0"/>
      <dgm:spPr/>
    </dgm:pt>
    <dgm:pt modelId="{0BE0B7A8-6E6D-43C3-8BC7-05C625583171}" type="pres">
      <dgm:prSet presAssocID="{EB7FEFAC-4022-46A2-96DA-21E3FD50D563}" presName="childTextArrow" presStyleLbl="fgAccFollowNode1" presStyleIdx="2" presStyleCnt="3">
        <dgm:presLayoutVars>
          <dgm:bulletEnabled val="1"/>
        </dgm:presLayoutVars>
      </dgm:prSet>
      <dgm:spPr/>
    </dgm:pt>
  </dgm:ptLst>
  <dgm:cxnLst>
    <dgm:cxn modelId="{24AF1029-53B1-40B3-AA8D-CB261F6D93B3}" type="presOf" srcId="{DA5DC895-BB0C-40F8-B471-AC47FF787DD5}" destId="{28CF1DAA-44AC-4D8D-84EF-1340A6B8DF3E}" srcOrd="1" destOrd="0" presId="urn:microsoft.com/office/officeart/2005/8/layout/process4"/>
    <dgm:cxn modelId="{AD3B3629-7D31-4E10-958F-28AEB67F5EB3}" type="presOf" srcId="{8A53FA2D-5476-44F4-8858-EA2D7C9188CC}" destId="{F8EB6A61-DC24-4717-94AC-74EF8D491873}" srcOrd="1" destOrd="0" presId="urn:microsoft.com/office/officeart/2005/8/layout/process4"/>
    <dgm:cxn modelId="{8E569D34-E009-4298-824E-F1C5739C1E81}" srcId="{846A122F-E103-4B44-9298-634E56F24B97}" destId="{8A53FA2D-5476-44F4-8858-EA2D7C9188CC}" srcOrd="1" destOrd="0" parTransId="{C3C7A970-61A1-47DD-8BC7-0C2372FB453D}" sibTransId="{55B5D042-7401-403E-81C0-E2E99083D13F}"/>
    <dgm:cxn modelId="{223FCD36-6340-4774-8F8D-18C474EB3273}" type="presOf" srcId="{9FF4DE82-4AE3-4A93-A3A8-D1EC91938A0C}" destId="{D36A9558-9300-4802-852B-CD33D4F18457}" srcOrd="0" destOrd="0" presId="urn:microsoft.com/office/officeart/2005/8/layout/process4"/>
    <dgm:cxn modelId="{9983405D-FC2E-415D-8EF1-D65EC34E0627}" srcId="{8A53FA2D-5476-44F4-8858-EA2D7C9188CC}" destId="{CF2489DE-5313-4438-8A51-A1003EE78C7C}" srcOrd="0" destOrd="0" parTransId="{0E8F5CF4-731C-42C3-A4E3-D60E343963D4}" sibTransId="{77E2FB05-F9AF-44EC-96A0-10DA9138F830}"/>
    <dgm:cxn modelId="{099C1B70-F0EB-47E9-A27C-A05A802C6ECB}" srcId="{846A122F-E103-4B44-9298-634E56F24B97}" destId="{9FF4DE82-4AE3-4A93-A3A8-D1EC91938A0C}" srcOrd="0" destOrd="0" parTransId="{A12F850C-E39D-4B3D-8833-CB74C12FED4F}" sibTransId="{8F01E5DD-B15F-48C6-ABCF-C05DF5ADBE31}"/>
    <dgm:cxn modelId="{298A9750-C39C-44BD-8427-E77850B04646}" type="presOf" srcId="{8A53FA2D-5476-44F4-8858-EA2D7C9188CC}" destId="{A7B497D3-8456-4DAE-8D2D-32262AE4E45E}" srcOrd="0" destOrd="0" presId="urn:microsoft.com/office/officeart/2005/8/layout/process4"/>
    <dgm:cxn modelId="{837F5253-3BA7-453D-A7C2-64CB234999BD}" srcId="{9FF4DE82-4AE3-4A93-A3A8-D1EC91938A0C}" destId="{EB7FEFAC-4022-46A2-96DA-21E3FD50D563}" srcOrd="0" destOrd="0" parTransId="{086C0901-5C0B-406F-BD30-E9447317B264}" sibTransId="{8B4723BA-7EFB-42C5-8020-DD5A882F7C6F}"/>
    <dgm:cxn modelId="{62BFE877-C7B6-4E68-8E45-AEB924394F29}" type="presOf" srcId="{CF2489DE-5313-4438-8A51-A1003EE78C7C}" destId="{BCDC24D4-542C-412C-A82E-328C46DA3225}" srcOrd="0" destOrd="0" presId="urn:microsoft.com/office/officeart/2005/8/layout/process4"/>
    <dgm:cxn modelId="{B6E3E77B-69A4-4B97-A5EF-5030AF5796CA}" srcId="{846A122F-E103-4B44-9298-634E56F24B97}" destId="{DA5DC895-BB0C-40F8-B471-AC47FF787DD5}" srcOrd="2" destOrd="0" parTransId="{6F63D350-D599-46F1-8AC7-01E5C536B5F9}" sibTransId="{FAAFCF2D-2A93-492E-BA09-8A8C9F64FFD0}"/>
    <dgm:cxn modelId="{1384CA8B-7492-4F83-88CE-8E01E390200E}" type="presOf" srcId="{EB7FEFAC-4022-46A2-96DA-21E3FD50D563}" destId="{0BE0B7A8-6E6D-43C3-8BC7-05C625583171}" srcOrd="0" destOrd="0" presId="urn:microsoft.com/office/officeart/2005/8/layout/process4"/>
    <dgm:cxn modelId="{D56A978C-5244-4994-8434-566CCCF5D2B7}" type="presOf" srcId="{01BB52A4-F47B-4701-8DC2-C2D362D11BEA}" destId="{BF4277A5-6432-4F95-AD65-54BA2960A7A4}" srcOrd="0" destOrd="0" presId="urn:microsoft.com/office/officeart/2005/8/layout/process4"/>
    <dgm:cxn modelId="{E59EBD97-8689-4B3C-86A7-A03EDA49C368}" type="presOf" srcId="{9FF4DE82-4AE3-4A93-A3A8-D1EC91938A0C}" destId="{BFFEBD7C-987E-440B-8E76-ADB9F767FCB7}" srcOrd="1" destOrd="0" presId="urn:microsoft.com/office/officeart/2005/8/layout/process4"/>
    <dgm:cxn modelId="{D395E099-AC7F-4105-8868-00E9C4A5682C}" type="presOf" srcId="{DA5DC895-BB0C-40F8-B471-AC47FF787DD5}" destId="{2E2CE860-9741-4824-A512-E59CE11345D0}" srcOrd="0" destOrd="0" presId="urn:microsoft.com/office/officeart/2005/8/layout/process4"/>
    <dgm:cxn modelId="{005E8DE4-0905-41B4-9591-BFE14BF95CE9}" type="presOf" srcId="{846A122F-E103-4B44-9298-634E56F24B97}" destId="{639088EA-86CA-4D5F-81E0-F504D4FB20CC}" srcOrd="0" destOrd="0" presId="urn:microsoft.com/office/officeart/2005/8/layout/process4"/>
    <dgm:cxn modelId="{E06A85F6-9853-45E8-8EE1-82EDCDAB610A}" srcId="{DA5DC895-BB0C-40F8-B471-AC47FF787DD5}" destId="{01BB52A4-F47B-4701-8DC2-C2D362D11BEA}" srcOrd="0" destOrd="0" parTransId="{4B84767E-BAAF-4AA4-A449-7F6B7F2DAA30}" sibTransId="{FC5811AD-BB09-4139-8EB4-C276B87A3603}"/>
    <dgm:cxn modelId="{E24EE398-16AF-4842-9D7F-BFAFAD5DFF6C}" type="presParOf" srcId="{639088EA-86CA-4D5F-81E0-F504D4FB20CC}" destId="{721861BE-0A6E-4F7D-AA99-D9788900AD4C}" srcOrd="0" destOrd="0" presId="urn:microsoft.com/office/officeart/2005/8/layout/process4"/>
    <dgm:cxn modelId="{68C17845-5983-4749-9CD0-CCB35B47EF11}" type="presParOf" srcId="{721861BE-0A6E-4F7D-AA99-D9788900AD4C}" destId="{2E2CE860-9741-4824-A512-E59CE11345D0}" srcOrd="0" destOrd="0" presId="urn:microsoft.com/office/officeart/2005/8/layout/process4"/>
    <dgm:cxn modelId="{8280EFAA-1DD5-40CC-BE8E-0C2B55AB2911}" type="presParOf" srcId="{721861BE-0A6E-4F7D-AA99-D9788900AD4C}" destId="{28CF1DAA-44AC-4D8D-84EF-1340A6B8DF3E}" srcOrd="1" destOrd="0" presId="urn:microsoft.com/office/officeart/2005/8/layout/process4"/>
    <dgm:cxn modelId="{BCE38B87-8E27-4912-ADD4-2A6E0B25763E}" type="presParOf" srcId="{721861BE-0A6E-4F7D-AA99-D9788900AD4C}" destId="{D9743783-E986-4807-9A52-327A05CF1276}" srcOrd="2" destOrd="0" presId="urn:microsoft.com/office/officeart/2005/8/layout/process4"/>
    <dgm:cxn modelId="{E7289B61-4FFC-4BFF-AB66-FA7D5B837C54}" type="presParOf" srcId="{D9743783-E986-4807-9A52-327A05CF1276}" destId="{BF4277A5-6432-4F95-AD65-54BA2960A7A4}" srcOrd="0" destOrd="0" presId="urn:microsoft.com/office/officeart/2005/8/layout/process4"/>
    <dgm:cxn modelId="{7B7A832C-D357-4D2F-BD24-CA72D65E3858}" type="presParOf" srcId="{639088EA-86CA-4D5F-81E0-F504D4FB20CC}" destId="{9A20B6E3-4304-4E27-9219-125F5F7561CF}" srcOrd="1" destOrd="0" presId="urn:microsoft.com/office/officeart/2005/8/layout/process4"/>
    <dgm:cxn modelId="{1227D7A5-1061-4AD5-92DC-F7591C68B025}" type="presParOf" srcId="{639088EA-86CA-4D5F-81E0-F504D4FB20CC}" destId="{8DF9A2BE-2D66-4969-AE00-3EB45ACC57DB}" srcOrd="2" destOrd="0" presId="urn:microsoft.com/office/officeart/2005/8/layout/process4"/>
    <dgm:cxn modelId="{F84B9E8B-8E76-4AB4-8CE6-B1A8387105B5}" type="presParOf" srcId="{8DF9A2BE-2D66-4969-AE00-3EB45ACC57DB}" destId="{A7B497D3-8456-4DAE-8D2D-32262AE4E45E}" srcOrd="0" destOrd="0" presId="urn:microsoft.com/office/officeart/2005/8/layout/process4"/>
    <dgm:cxn modelId="{931BCBDD-5A51-4A27-9128-F76E2FB6A05C}" type="presParOf" srcId="{8DF9A2BE-2D66-4969-AE00-3EB45ACC57DB}" destId="{F8EB6A61-DC24-4717-94AC-74EF8D491873}" srcOrd="1" destOrd="0" presId="urn:microsoft.com/office/officeart/2005/8/layout/process4"/>
    <dgm:cxn modelId="{F245DA8B-C56F-4306-BADE-8D3A54BCDE68}" type="presParOf" srcId="{8DF9A2BE-2D66-4969-AE00-3EB45ACC57DB}" destId="{5512F83E-97C3-4760-8075-F0466174D8C5}" srcOrd="2" destOrd="0" presId="urn:microsoft.com/office/officeart/2005/8/layout/process4"/>
    <dgm:cxn modelId="{55D16EB7-D1D6-44A4-852B-37DF99238537}" type="presParOf" srcId="{5512F83E-97C3-4760-8075-F0466174D8C5}" destId="{BCDC24D4-542C-412C-A82E-328C46DA3225}" srcOrd="0" destOrd="0" presId="urn:microsoft.com/office/officeart/2005/8/layout/process4"/>
    <dgm:cxn modelId="{BFDBC3BC-D131-4DF0-941F-2BB51C96D145}" type="presParOf" srcId="{639088EA-86CA-4D5F-81E0-F504D4FB20CC}" destId="{215399F9-3445-48E3-9596-1006FE6AC478}" srcOrd="3" destOrd="0" presId="urn:microsoft.com/office/officeart/2005/8/layout/process4"/>
    <dgm:cxn modelId="{5D3A8B94-058E-4C25-BD0E-5187FB6F2AD0}" type="presParOf" srcId="{639088EA-86CA-4D5F-81E0-F504D4FB20CC}" destId="{38C2E0F2-548F-4592-A0C2-5526722E5416}" srcOrd="4" destOrd="0" presId="urn:microsoft.com/office/officeart/2005/8/layout/process4"/>
    <dgm:cxn modelId="{662D896C-944B-40BD-B4DC-A51313F2C0CE}" type="presParOf" srcId="{38C2E0F2-548F-4592-A0C2-5526722E5416}" destId="{D36A9558-9300-4802-852B-CD33D4F18457}" srcOrd="0" destOrd="0" presId="urn:microsoft.com/office/officeart/2005/8/layout/process4"/>
    <dgm:cxn modelId="{97C9C86F-71BE-47DE-81B1-98FD3AB7B573}" type="presParOf" srcId="{38C2E0F2-548F-4592-A0C2-5526722E5416}" destId="{BFFEBD7C-987E-440B-8E76-ADB9F767FCB7}" srcOrd="1" destOrd="0" presId="urn:microsoft.com/office/officeart/2005/8/layout/process4"/>
    <dgm:cxn modelId="{4804E709-691A-4486-AAC3-D5320F8A9696}" type="presParOf" srcId="{38C2E0F2-548F-4592-A0C2-5526722E5416}" destId="{5B9C669B-249C-4E7A-B682-C0CCC51CC789}" srcOrd="2" destOrd="0" presId="urn:microsoft.com/office/officeart/2005/8/layout/process4"/>
    <dgm:cxn modelId="{94C573FD-20F2-4F47-BF2E-B74B14677728}" type="presParOf" srcId="{5B9C669B-249C-4E7A-B682-C0CCC51CC789}" destId="{0BE0B7A8-6E6D-43C3-8BC7-05C625583171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CF1DAA-44AC-4D8D-84EF-1340A6B8DF3E}">
      <dsp:nvSpPr>
        <dsp:cNvPr id="0" name=""/>
        <dsp:cNvSpPr/>
      </dsp:nvSpPr>
      <dsp:spPr>
        <a:xfrm>
          <a:off x="0" y="2372654"/>
          <a:ext cx="3794985" cy="778758"/>
        </a:xfrm>
        <a:prstGeom prst="rect">
          <a:avLst/>
        </a:prstGeom>
        <a:gradFill rotWithShape="0">
          <a:gsLst>
            <a:gs pos="0">
              <a:schemeClr val="accent3">
                <a:alpha val="90000"/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3">
                <a:alpha val="90000"/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 err="1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gitcreds</a:t>
          </a:r>
          <a:r>
            <a:rPr lang="en-US" sz="1500" b="1" kern="1200" dirty="0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::</a:t>
          </a:r>
          <a:r>
            <a:rPr lang="en-US" sz="1500" b="1" kern="1200" dirty="0" err="1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gitcreds_set</a:t>
          </a:r>
          <a:r>
            <a:rPr lang="en-US" sz="1500" b="1" kern="1200" dirty="0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()</a:t>
          </a:r>
        </a:p>
      </dsp:txBody>
      <dsp:txXfrm>
        <a:off x="0" y="2372654"/>
        <a:ext cx="3794985" cy="420529"/>
      </dsp:txXfrm>
    </dsp:sp>
    <dsp:sp modelId="{BF4277A5-6432-4F95-AD65-54BA2960A7A4}">
      <dsp:nvSpPr>
        <dsp:cNvPr id="0" name=""/>
        <dsp:cNvSpPr/>
      </dsp:nvSpPr>
      <dsp:spPr>
        <a:xfrm>
          <a:off x="0" y="2777608"/>
          <a:ext cx="3794985" cy="358228"/>
        </a:xfrm>
        <a:prstGeom prst="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16510" rIns="92456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i="1" kern="1200" dirty="0">
              <a:solidFill>
                <a:schemeClr val="tx1"/>
              </a:solidFill>
            </a:rPr>
            <a:t>Paste the token here</a:t>
          </a:r>
        </a:p>
      </dsp:txBody>
      <dsp:txXfrm>
        <a:off x="0" y="2777608"/>
        <a:ext cx="3794985" cy="358228"/>
      </dsp:txXfrm>
    </dsp:sp>
    <dsp:sp modelId="{F8EB6A61-DC24-4717-94AC-74EF8D491873}">
      <dsp:nvSpPr>
        <dsp:cNvPr id="0" name=""/>
        <dsp:cNvSpPr/>
      </dsp:nvSpPr>
      <dsp:spPr>
        <a:xfrm rot="10800000">
          <a:off x="0" y="1186605"/>
          <a:ext cx="3794985" cy="1197730"/>
        </a:xfrm>
        <a:prstGeom prst="upArrowCallout">
          <a:avLst/>
        </a:prstGeom>
        <a:gradFill rotWithShape="0">
          <a:gsLst>
            <a:gs pos="0">
              <a:schemeClr val="accent3">
                <a:alpha val="90000"/>
                <a:hueOff val="0"/>
                <a:satOff val="0"/>
                <a:lumOff val="0"/>
                <a:alphaOff val="-20000"/>
                <a:tint val="100000"/>
                <a:shade val="100000"/>
                <a:satMod val="130000"/>
              </a:schemeClr>
            </a:gs>
            <a:gs pos="100000">
              <a:schemeClr val="accent3">
                <a:alpha val="90000"/>
                <a:hueOff val="0"/>
                <a:satOff val="0"/>
                <a:lumOff val="0"/>
                <a:alphaOff val="-2000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Generate Token</a:t>
          </a:r>
        </a:p>
      </dsp:txBody>
      <dsp:txXfrm rot="-10800000">
        <a:off x="0" y="1186605"/>
        <a:ext cx="3794985" cy="420403"/>
      </dsp:txXfrm>
    </dsp:sp>
    <dsp:sp modelId="{BCDC24D4-542C-412C-A82E-328C46DA3225}">
      <dsp:nvSpPr>
        <dsp:cNvPr id="0" name=""/>
        <dsp:cNvSpPr/>
      </dsp:nvSpPr>
      <dsp:spPr>
        <a:xfrm>
          <a:off x="0" y="1607009"/>
          <a:ext cx="3794985" cy="358121"/>
        </a:xfrm>
        <a:prstGeom prst="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-20000"/>
          </a:schemeClr>
        </a:solidFill>
        <a:ln w="9525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16510" rIns="92456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i="1" kern="1200" dirty="0">
              <a:solidFill>
                <a:schemeClr val="tx1"/>
              </a:solidFill>
            </a:rPr>
            <a:t>Generates a token. Copy this</a:t>
          </a:r>
        </a:p>
      </dsp:txBody>
      <dsp:txXfrm>
        <a:off x="0" y="1607009"/>
        <a:ext cx="3794985" cy="358121"/>
      </dsp:txXfrm>
    </dsp:sp>
    <dsp:sp modelId="{BFFEBD7C-987E-440B-8E76-ADB9F767FCB7}">
      <dsp:nvSpPr>
        <dsp:cNvPr id="0" name=""/>
        <dsp:cNvSpPr/>
      </dsp:nvSpPr>
      <dsp:spPr>
        <a:xfrm rot="10800000">
          <a:off x="0" y="557"/>
          <a:ext cx="3794985" cy="1197730"/>
        </a:xfrm>
        <a:prstGeom prst="upArrowCallout">
          <a:avLst/>
        </a:prstGeom>
        <a:gradFill rotWithShape="0">
          <a:gsLst>
            <a:gs pos="0">
              <a:schemeClr val="accent3">
                <a:alpha val="90000"/>
                <a:hueOff val="0"/>
                <a:satOff val="0"/>
                <a:lumOff val="0"/>
                <a:alphaOff val="-40000"/>
                <a:tint val="100000"/>
                <a:shade val="100000"/>
                <a:satMod val="130000"/>
              </a:schemeClr>
            </a:gs>
            <a:gs pos="100000">
              <a:schemeClr val="accent3">
                <a:alpha val="90000"/>
                <a:hueOff val="0"/>
                <a:satOff val="0"/>
                <a:lumOff val="0"/>
                <a:alphaOff val="-4000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 err="1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Usethis</a:t>
          </a:r>
          <a:r>
            <a:rPr lang="en-US" sz="1500" b="1" kern="1200" dirty="0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::</a:t>
          </a:r>
          <a:r>
            <a:rPr lang="en-US" sz="1500" b="1" kern="1200" dirty="0" err="1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create_github_token</a:t>
          </a:r>
          <a:r>
            <a:rPr lang="en-US" sz="1500" b="1" kern="1200" dirty="0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rPr>
            <a:t>()</a:t>
          </a:r>
        </a:p>
      </dsp:txBody>
      <dsp:txXfrm rot="-10800000">
        <a:off x="0" y="557"/>
        <a:ext cx="3794985" cy="420403"/>
      </dsp:txXfrm>
    </dsp:sp>
    <dsp:sp modelId="{0BE0B7A8-6E6D-43C3-8BC7-05C625583171}">
      <dsp:nvSpPr>
        <dsp:cNvPr id="0" name=""/>
        <dsp:cNvSpPr/>
      </dsp:nvSpPr>
      <dsp:spPr>
        <a:xfrm>
          <a:off x="0" y="420960"/>
          <a:ext cx="3794985" cy="358121"/>
        </a:xfrm>
        <a:prstGeom prst="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-40000"/>
          </a:schemeClr>
        </a:solidFill>
        <a:ln w="9525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16510" rIns="92456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i="1" kern="1200" dirty="0">
              <a:solidFill>
                <a:schemeClr val="tx1"/>
              </a:solidFill>
            </a:rPr>
            <a:t>Launches GitHub authentication Configuration</a:t>
          </a:r>
        </a:p>
      </dsp:txBody>
      <dsp:txXfrm>
        <a:off x="0" y="420960"/>
        <a:ext cx="3794985" cy="3581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26.pn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31.png"/><Relationship Id="rId9" Type="http://schemas.microsoft.com/office/2007/relationships/diagramDrawing" Target="../diagrams/drawing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microsoft.com/office/2007/relationships/hdphoto" Target="../media/hdphoto1.wdp"/><Relationship Id="rId4" Type="http://schemas.openxmlformats.org/officeDocument/2006/relationships/image" Target="../media/image43.png"/><Relationship Id="rId9" Type="http://schemas.openxmlformats.org/officeDocument/2006/relationships/image" Target="../media/image4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729662" cy="3210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79045" y="1447065"/>
            <a:ext cx="1714500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788568" y="3191243"/>
            <a:ext cx="1714500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73460" y="3696435"/>
            <a:ext cx="1905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descr="image.png"/>
          <p:cNvPicPr preferRelativeResize="0"/>
          <p:nvPr/>
        </p:nvPicPr>
        <p:blipFill rotWithShape="1">
          <a:blip r:embed="rId7">
            <a:alphaModFix/>
            <a:duotone>
              <a:prstClr val="black"/>
              <a:srgbClr val="FFC000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6797944" y="1787038"/>
            <a:ext cx="1905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descr="image.png"/>
          <p:cNvPicPr preferRelativeResize="0"/>
          <p:nvPr/>
        </p:nvPicPr>
        <p:blipFill rotWithShape="1">
          <a:blip r:embed="rId8">
            <a:alphaModFix/>
            <a:duotone>
              <a:prstClr val="black"/>
              <a:srgbClr val="FFC000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10008394" y="2843150"/>
            <a:ext cx="1714500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3" descr="image.png"/>
          <p:cNvPicPr preferRelativeResize="0"/>
          <p:nvPr/>
        </p:nvPicPr>
        <p:blipFill rotWithShape="1">
          <a:blip r:embed="rId9">
            <a:alphaModFix/>
            <a:duotone>
              <a:prstClr val="black"/>
              <a:srgbClr val="FFC000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7815981" y="3924300"/>
            <a:ext cx="1905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086475" y="685800"/>
            <a:ext cx="1905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3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715000" y="3048000"/>
            <a:ext cx="7620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3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631091" y="4635443"/>
            <a:ext cx="762000" cy="762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95A8289-8DF9-8D85-38DC-2BFBE7561517}"/>
              </a:ext>
            </a:extLst>
          </p:cNvPr>
          <p:cNvGrpSpPr/>
          <p:nvPr/>
        </p:nvGrpSpPr>
        <p:grpSpPr>
          <a:xfrm>
            <a:off x="4079200" y="1392425"/>
            <a:ext cx="733831" cy="1220685"/>
            <a:chOff x="3979070" y="1502970"/>
            <a:chExt cx="733831" cy="1220685"/>
          </a:xfrm>
        </p:grpSpPr>
        <p:pic>
          <p:nvPicPr>
            <p:cNvPr id="95" name="Google Shape;95;p13" descr="image.png"/>
            <p:cNvPicPr preferRelativeResize="0"/>
            <p:nvPr/>
          </p:nvPicPr>
          <p:blipFill rotWithShape="1">
            <a:blip r:embed="rId13">
              <a:alphaModFix amt="70000"/>
            </a:blip>
            <a:srcRect/>
            <a:stretch/>
          </p:blipFill>
          <p:spPr>
            <a:xfrm>
              <a:off x="3979070" y="1502970"/>
              <a:ext cx="666750" cy="6667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6" name="Google Shape;96;p13"/>
            <p:cNvSpPr txBox="1"/>
            <p:nvPr/>
          </p:nvSpPr>
          <p:spPr>
            <a:xfrm>
              <a:off x="4012814" y="2237880"/>
              <a:ext cx="700087" cy="485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150" b="1" i="0" u="none" strike="noStrike" cap="none" dirty="0">
                  <a:solidFill>
                    <a:srgbClr val="F5F5F5"/>
                  </a:solidFill>
                  <a:latin typeface="Urbanist" panose="020B0604020202020204" charset="0"/>
                  <a:ea typeface="Urbanist" panose="020B0604020202020204" charset="0"/>
                  <a:cs typeface="Urbanist" panose="020B0604020202020204" charset="0"/>
                  <a:sym typeface="Urbanist"/>
                </a:rPr>
                <a:t>GIT</a:t>
              </a:r>
              <a:endParaRPr dirty="0"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endParaRPr>
            </a:p>
          </p:txBody>
        </p:sp>
      </p:grpSp>
      <p:sp>
        <p:nvSpPr>
          <p:cNvPr id="99" name="Google Shape;99;p13"/>
          <p:cNvSpPr txBox="1"/>
          <p:nvPr/>
        </p:nvSpPr>
        <p:spPr>
          <a:xfrm>
            <a:off x="304800" y="456210"/>
            <a:ext cx="11601450" cy="600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Git vs GitHub : What's the difference ?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114EF4-F89E-93C3-4069-924EB56A50E6}"/>
              </a:ext>
            </a:extLst>
          </p:cNvPr>
          <p:cNvGrpSpPr/>
          <p:nvPr/>
        </p:nvGrpSpPr>
        <p:grpSpPr>
          <a:xfrm>
            <a:off x="8745387" y="1213695"/>
            <a:ext cx="1885704" cy="1462520"/>
            <a:chOff x="8553962" y="1261135"/>
            <a:chExt cx="1885704" cy="1462520"/>
          </a:xfrm>
        </p:grpSpPr>
        <p:sp>
          <p:nvSpPr>
            <p:cNvPr id="98" name="Google Shape;98;p13"/>
            <p:cNvSpPr txBox="1"/>
            <p:nvPr/>
          </p:nvSpPr>
          <p:spPr>
            <a:xfrm>
              <a:off x="8553962" y="2237880"/>
              <a:ext cx="1885704" cy="485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150" b="1" i="0" u="none" strike="noStrike" cap="none" dirty="0">
                  <a:solidFill>
                    <a:srgbClr val="F5F5F5"/>
                  </a:solidFill>
                  <a:latin typeface="Urbanist" panose="020B0604020202020204" charset="0"/>
                  <a:ea typeface="Urbanist" panose="020B0604020202020204" charset="0"/>
                  <a:cs typeface="Urbanist" panose="020B0604020202020204" charset="0"/>
                  <a:sym typeface="Urbanist"/>
                </a:rPr>
                <a:t>GITHUB</a:t>
              </a:r>
              <a:endParaRPr dirty="0"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74DF186-F8BE-8427-88FA-1FD54BBD93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alphaModFix amt="70000"/>
            </a:blip>
            <a:stretch>
              <a:fillRect/>
            </a:stretch>
          </p:blipFill>
          <p:spPr>
            <a:xfrm>
              <a:off x="8879682" y="1261135"/>
              <a:ext cx="1146686" cy="1146686"/>
            </a:xfrm>
            <a:prstGeom prst="rect">
              <a:avLst/>
            </a:prstGeom>
          </p:spPr>
        </p:pic>
      </p:grpSp>
      <p:pic>
        <p:nvPicPr>
          <p:cNvPr id="1026" name="Picture 2" descr="Computer Icon White PNGs for Free Download">
            <a:extLst>
              <a:ext uri="{FF2B5EF4-FFF2-40B4-BE49-F238E27FC236}">
                <a16:creationId xmlns:a16="http://schemas.microsoft.com/office/drawing/2014/main" id="{8C026D88-9F5E-93E7-7533-AE55DB3FB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423138">
            <a:off x="2946306" y="4703628"/>
            <a:ext cx="1560497" cy="1560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954113"/>
            <a:ext cx="10668000" cy="4381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762000" y="2194619"/>
            <a:ext cx="5300662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 SemiBold"/>
              </a:rPr>
              <a:t>The "Final" Illusion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762000" y="2661344"/>
            <a:ext cx="504825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Without version control, tracking history turns into file accumulation chaos. Working manually leads to systemic traps: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1047750" y="3766244"/>
            <a:ext cx="4762500" cy="657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Cluttered Directories:</a:t>
            </a:r>
            <a:r>
              <a:rPr lang="en-US" sz="1425" b="0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 Endless duplication of files just to save a historic snapshot.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1047750" y="4452044"/>
            <a:ext cx="4762500" cy="657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Loss of Context:</a:t>
            </a:r>
            <a:r>
              <a:rPr lang="en-US" sz="1425" b="0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 Forgetting exactly what lines of code changed between version 3 and version 4 over time.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1047750" y="5137844"/>
            <a:ext cx="4762500" cy="986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Collaboration Blocking:</a:t>
            </a:r>
            <a:r>
              <a:rPr lang="en-US" sz="1425" b="0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 You cannot easily share a folder of 15 confusing files with a teammate and expect them to know which one works.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762000" y="3766244"/>
            <a:ext cx="180975" cy="32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→</a:t>
            </a:r>
            <a:endParaRPr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762000" y="4452044"/>
            <a:ext cx="180975" cy="32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→</a:t>
            </a:r>
            <a:endParaRPr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762000" y="5137844"/>
            <a:ext cx="180975" cy="32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→</a:t>
            </a:r>
            <a:endParaRPr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952500" y="982563"/>
            <a:ext cx="11001375" cy="600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 dirty="0">
                <a:solidFill>
                  <a:srgbClr val="F5F5F5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THE PROBLEM: </a:t>
            </a:r>
            <a:r>
              <a:rPr lang="en-US" sz="3900" b="1" i="0" u="none" strike="noStrike" cap="none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NAMING NIGHTMARE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95" name="Google Shape;95;p13"/>
          <p:cNvSpPr/>
          <p:nvPr/>
        </p:nvSpPr>
        <p:spPr>
          <a:xfrm>
            <a:off x="762000" y="982563"/>
            <a:ext cx="57150" cy="5905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6618" y="2405805"/>
            <a:ext cx="3484076" cy="39497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13200" y="2405806"/>
            <a:ext cx="3365598" cy="3949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2405805"/>
            <a:ext cx="3365599" cy="3949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4"/>
          <p:cNvSpPr txBox="1"/>
          <p:nvPr/>
        </p:nvSpPr>
        <p:spPr>
          <a:xfrm>
            <a:off x="1152525" y="3491656"/>
            <a:ext cx="271362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 SemiBold"/>
              </a:rPr>
              <a:t>Granular Snapshots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1152525" y="3958381"/>
            <a:ext cx="2584400" cy="2215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Instead of copying whole files, Git tracks incremental line changes precisely. Your project folder stays completely clean with just a single file visible.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4803725" y="3491656"/>
            <a:ext cx="271362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 SemiBold"/>
              </a:rPr>
              <a:t>Flawless Time Travel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4803725" y="3958381"/>
            <a:ext cx="2584400" cy="1846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Faced with broken script executions? Seamlessly roll back your entire workspace to any precise historic commit instantly.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8454925" y="3491656"/>
            <a:ext cx="271377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 SemiBold"/>
              </a:rPr>
              <a:t>Absolute Audit Trails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8454925" y="3958381"/>
            <a:ext cx="2584549" cy="1846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Every dynamic modification maps directly back to an individual author signature, accurate timestamp, and contextual intent description.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pic>
        <p:nvPicPr>
          <p:cNvPr id="110" name="Google Shape;110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52525" y="2824906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803725" y="2824906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54925" y="2824906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/>
          <p:cNvSpPr txBox="1"/>
          <p:nvPr/>
        </p:nvSpPr>
        <p:spPr>
          <a:xfrm>
            <a:off x="952500" y="982563"/>
            <a:ext cx="11001375" cy="600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 dirty="0">
                <a:solidFill>
                  <a:srgbClr val="F5F5F5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THE CORE SOLUTION: </a:t>
            </a:r>
            <a:r>
              <a:rPr lang="en-US" sz="3900" b="1" i="0" u="none" strike="noStrike" cap="none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TOTAL CONTROL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14" name="Google Shape;114;p14"/>
          <p:cNvSpPr/>
          <p:nvPr/>
        </p:nvSpPr>
        <p:spPr>
          <a:xfrm>
            <a:off x="762000" y="982563"/>
            <a:ext cx="57150" cy="5905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2186731"/>
            <a:ext cx="5048250" cy="386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62025" y="2501056"/>
            <a:ext cx="4648200" cy="3238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5"/>
          <p:cNvSpPr txBox="1"/>
          <p:nvPr/>
        </p:nvSpPr>
        <p:spPr>
          <a:xfrm>
            <a:off x="6381750" y="2186731"/>
            <a:ext cx="5300662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 SemiBold"/>
              </a:rPr>
              <a:t>Parallel Streams of Innovation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23" name="Google Shape;123;p15"/>
          <p:cNvSpPr txBox="1"/>
          <p:nvPr/>
        </p:nvSpPr>
        <p:spPr>
          <a:xfrm>
            <a:off x="6381750" y="2653456"/>
            <a:ext cx="504825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Branching structures safely isolate work streams so you can code without breaking the baseline project: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6667500" y="3453556"/>
            <a:ext cx="4762500" cy="657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The Baseline (main):</a:t>
            </a:r>
            <a:r>
              <a:rPr lang="en-US" sz="1425" b="0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 The pristine, production-ready code. This is the single source of truth.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6667500" y="4139356"/>
            <a:ext cx="4762500" cy="986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Feature Development (feature/</a:t>
            </a:r>
            <a:r>
              <a:rPr lang="en-US" sz="1425" b="1" i="0" u="none" strike="noStrike" cap="none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esau_calculator</a:t>
            </a:r>
            <a:r>
              <a:rPr lang="en-US" sz="1425" b="1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):</a:t>
            </a:r>
            <a:r>
              <a:rPr lang="en-US" sz="1425" b="0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 A safe sandbox where you build and test new models or logic without touching main.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26" name="Google Shape;126;p15"/>
          <p:cNvSpPr txBox="1"/>
          <p:nvPr/>
        </p:nvSpPr>
        <p:spPr>
          <a:xfrm>
            <a:off x="6667500" y="5096619"/>
            <a:ext cx="4762500" cy="986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Bug Fixing (bugfix/</a:t>
            </a:r>
            <a:r>
              <a:rPr lang="en-US" sz="1425" b="1" i="0" u="none" strike="noStrike" cap="none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data_cleaning</a:t>
            </a:r>
            <a:r>
              <a:rPr lang="en-US" sz="1425" b="1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):</a:t>
            </a:r>
            <a:r>
              <a:rPr lang="en-US" sz="1425" b="0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 A quick, parallel branch spun up to fix a specific issue without interrupting the ongoing feature work.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6381750" y="3453556"/>
            <a:ext cx="180975" cy="32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→</a:t>
            </a:r>
            <a:endParaRPr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6381750" y="4139356"/>
            <a:ext cx="180975" cy="32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→</a:t>
            </a:r>
            <a:endParaRPr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6381750" y="5096619"/>
            <a:ext cx="180975" cy="32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→</a:t>
            </a:r>
            <a:endParaRPr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952500" y="982563"/>
            <a:ext cx="11001375" cy="600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 dirty="0">
                <a:solidFill>
                  <a:srgbClr val="F5F5F5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ADVANCED WORKFLOWS: </a:t>
            </a:r>
            <a:r>
              <a:rPr lang="en-US" sz="3900" b="1" i="0" u="none" strike="noStrike" cap="none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BRANCHING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31" name="Google Shape;131;p15"/>
          <p:cNvSpPr/>
          <p:nvPr/>
        </p:nvSpPr>
        <p:spPr>
          <a:xfrm>
            <a:off x="762000" y="982563"/>
            <a:ext cx="57150" cy="5905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06583-838F-5495-D308-5A90B73216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3C5ADB-DE43-4630-7563-A5DA96B9B17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B69738-4AFE-24C9-DBAA-C3D906B20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4"/>
            <a:ext cx="12193058" cy="6857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72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6"/>
          <p:cNvSpPr txBox="1"/>
          <p:nvPr/>
        </p:nvSpPr>
        <p:spPr>
          <a:xfrm>
            <a:off x="952500" y="571500"/>
            <a:ext cx="11001375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5F5F5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RSTUDIO </a:t>
            </a:r>
            <a:r>
              <a:rPr lang="en-US" sz="3600" b="1" i="0" u="none" strike="noStrike" cap="none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CONFIGURATION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29" name="Google Shape;129;p16"/>
          <p:cNvSpPr/>
          <p:nvPr/>
        </p:nvSpPr>
        <p:spPr>
          <a:xfrm>
            <a:off x="762000" y="571500"/>
            <a:ext cx="57150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Calibri"/>
            </a:endParaRPr>
          </a:p>
        </p:txBody>
      </p:sp>
      <p:sp>
        <p:nvSpPr>
          <p:cNvPr id="134" name="Google Shape;134;p16"/>
          <p:cNvSpPr txBox="1"/>
          <p:nvPr/>
        </p:nvSpPr>
        <p:spPr>
          <a:xfrm>
            <a:off x="1123950" y="3979448"/>
            <a:ext cx="4714875" cy="35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Verify path to git.exe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9B5EC32-12DB-914D-0A2C-7E16B287F36C}"/>
              </a:ext>
            </a:extLst>
          </p:cNvPr>
          <p:cNvGrpSpPr/>
          <p:nvPr/>
        </p:nvGrpSpPr>
        <p:grpSpPr>
          <a:xfrm>
            <a:off x="790575" y="2276194"/>
            <a:ext cx="5048250" cy="1323163"/>
            <a:chOff x="762000" y="2928044"/>
            <a:chExt cx="5048250" cy="132316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51048FE-7487-9A90-6CBA-E9FDF21E7019}"/>
                </a:ext>
              </a:extLst>
            </p:cNvPr>
            <p:cNvGrpSpPr/>
            <p:nvPr/>
          </p:nvGrpSpPr>
          <p:grpSpPr>
            <a:xfrm>
              <a:off x="762000" y="2928044"/>
              <a:ext cx="5048250" cy="355482"/>
              <a:chOff x="762000" y="2928044"/>
              <a:chExt cx="5048250" cy="355482"/>
            </a:xfrm>
          </p:grpSpPr>
          <p:sp>
            <p:nvSpPr>
              <p:cNvPr id="131" name="Google Shape;131;p16"/>
              <p:cNvSpPr txBox="1"/>
              <p:nvPr/>
            </p:nvSpPr>
            <p:spPr>
              <a:xfrm>
                <a:off x="1095375" y="2928044"/>
                <a:ext cx="4714875" cy="35548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4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50" b="0" i="0" u="none" strike="noStrike" cap="none" dirty="0">
                    <a:solidFill>
                      <a:srgbClr val="DAFFDE"/>
                    </a:solidFill>
                    <a:latin typeface="Urbanist" panose="020B0604020202020204" charset="0"/>
                    <a:ea typeface="Urbanist" panose="020B0604020202020204" charset="0"/>
                    <a:cs typeface="Urbanist" panose="020B0604020202020204" charset="0"/>
                    <a:sym typeface="Urbanist"/>
                  </a:rPr>
                  <a:t>Navigate to </a:t>
                </a:r>
                <a:r>
                  <a:rPr lang="en-US" sz="1650" b="1" i="0" u="none" strike="noStrike" cap="none" dirty="0">
                    <a:solidFill>
                      <a:srgbClr val="DAFFDE"/>
                    </a:solidFill>
                    <a:latin typeface="Urbanist" panose="020B0604020202020204" charset="0"/>
                    <a:ea typeface="Urbanist" panose="020B0604020202020204" charset="0"/>
                    <a:cs typeface="Urbanist" panose="020B0604020202020204" charset="0"/>
                    <a:sym typeface="Urbanist"/>
                  </a:rPr>
                  <a:t>Tools &gt; Global Options</a:t>
                </a:r>
                <a:endParaRPr dirty="0">
                  <a:latin typeface="Urbanist" panose="020B0604020202020204" charset="0"/>
                  <a:ea typeface="Urbanist" panose="020B0604020202020204" charset="0"/>
                  <a:cs typeface="Urbanist" panose="020B0604020202020204" charset="0"/>
                </a:endParaRPr>
              </a:p>
            </p:txBody>
          </p:sp>
          <p:pic>
            <p:nvPicPr>
              <p:cNvPr id="135" name="Google Shape;135;p16" descr="image.png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762000" y="2970907"/>
                <a:ext cx="209550" cy="21907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49DE0D2-D9FD-0370-4E6A-2490FECC80BE}"/>
                </a:ext>
              </a:extLst>
            </p:cNvPr>
            <p:cNvGrpSpPr/>
            <p:nvPr/>
          </p:nvGrpSpPr>
          <p:grpSpPr>
            <a:xfrm>
              <a:off x="762000" y="3411884"/>
              <a:ext cx="5048250" cy="355482"/>
              <a:chOff x="762000" y="3411884"/>
              <a:chExt cx="5048250" cy="355482"/>
            </a:xfrm>
          </p:grpSpPr>
          <p:sp>
            <p:nvSpPr>
              <p:cNvPr id="132" name="Google Shape;132;p16"/>
              <p:cNvSpPr txBox="1"/>
              <p:nvPr/>
            </p:nvSpPr>
            <p:spPr>
              <a:xfrm>
                <a:off x="1095375" y="3411884"/>
                <a:ext cx="4714875" cy="35548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4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50" b="0" i="0" u="none" strike="noStrike" cap="none" dirty="0">
                    <a:solidFill>
                      <a:srgbClr val="DAFFDE"/>
                    </a:solidFill>
                    <a:latin typeface="Urbanist" panose="020B0604020202020204" charset="0"/>
                    <a:ea typeface="Urbanist" panose="020B0604020202020204" charset="0"/>
                    <a:cs typeface="Urbanist" panose="020B0604020202020204" charset="0"/>
                    <a:sym typeface="Urbanist"/>
                  </a:rPr>
                  <a:t>Select the </a:t>
                </a:r>
                <a:r>
                  <a:rPr lang="en-US" sz="1650" b="1" i="0" u="none" strike="noStrike" cap="none" dirty="0">
                    <a:solidFill>
                      <a:srgbClr val="DAFFDE"/>
                    </a:solidFill>
                    <a:latin typeface="Urbanist" panose="020B0604020202020204" charset="0"/>
                    <a:ea typeface="Urbanist" panose="020B0604020202020204" charset="0"/>
                    <a:cs typeface="Urbanist" panose="020B0604020202020204" charset="0"/>
                    <a:sym typeface="Urbanist"/>
                  </a:rPr>
                  <a:t>Git/SVN</a:t>
                </a:r>
                <a:r>
                  <a:rPr lang="en-US" sz="1650" b="0" i="0" u="none" strike="noStrike" cap="none" dirty="0">
                    <a:solidFill>
                      <a:srgbClr val="DAFFDE"/>
                    </a:solidFill>
                    <a:latin typeface="Urbanist" panose="020B0604020202020204" charset="0"/>
                    <a:ea typeface="Urbanist" panose="020B0604020202020204" charset="0"/>
                    <a:cs typeface="Urbanist" panose="020B0604020202020204" charset="0"/>
                    <a:sym typeface="Urbanist"/>
                  </a:rPr>
                  <a:t> tab</a:t>
                </a:r>
                <a:endParaRPr dirty="0">
                  <a:latin typeface="Urbanist" panose="020B0604020202020204" charset="0"/>
                  <a:ea typeface="Urbanist" panose="020B0604020202020204" charset="0"/>
                  <a:cs typeface="Urbanist" panose="020B0604020202020204" charset="0"/>
                </a:endParaRPr>
              </a:p>
            </p:txBody>
          </p:sp>
          <p:pic>
            <p:nvPicPr>
              <p:cNvPr id="136" name="Google Shape;136;p16" descr="image.p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762000" y="3454747"/>
                <a:ext cx="180975" cy="21907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6123C5E-05CF-001F-C78C-4DD7DC4A7148}"/>
                </a:ext>
              </a:extLst>
            </p:cNvPr>
            <p:cNvGrpSpPr/>
            <p:nvPr/>
          </p:nvGrpSpPr>
          <p:grpSpPr>
            <a:xfrm>
              <a:off x="762000" y="3895725"/>
              <a:ext cx="5048250" cy="355482"/>
              <a:chOff x="762000" y="3895725"/>
              <a:chExt cx="5048250" cy="355482"/>
            </a:xfrm>
          </p:grpSpPr>
          <p:sp>
            <p:nvSpPr>
              <p:cNvPr id="133" name="Google Shape;133;p16"/>
              <p:cNvSpPr txBox="1"/>
              <p:nvPr/>
            </p:nvSpPr>
            <p:spPr>
              <a:xfrm>
                <a:off x="1095375" y="3895725"/>
                <a:ext cx="4714875" cy="35548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4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50" b="0" i="0" u="none" strike="noStrike" cap="none" dirty="0">
                    <a:solidFill>
                      <a:srgbClr val="DAFFDE"/>
                    </a:solidFill>
                    <a:latin typeface="Urbanist" panose="020B0604020202020204" charset="0"/>
                    <a:ea typeface="Urbanist" panose="020B0604020202020204" charset="0"/>
                    <a:cs typeface="Urbanist" panose="020B0604020202020204" charset="0"/>
                    <a:sym typeface="Urbanist"/>
                  </a:rPr>
                  <a:t>Enable </a:t>
                </a:r>
                <a:r>
                  <a:rPr lang="en-US" sz="1650" b="1" i="0" u="none" strike="noStrike" cap="none" dirty="0">
                    <a:solidFill>
                      <a:srgbClr val="DAFFDE"/>
                    </a:solidFill>
                    <a:latin typeface="Urbanist" panose="020B0604020202020204" charset="0"/>
                    <a:ea typeface="Urbanist" panose="020B0604020202020204" charset="0"/>
                    <a:cs typeface="Urbanist" panose="020B0604020202020204" charset="0"/>
                    <a:sym typeface="Urbanist"/>
                  </a:rPr>
                  <a:t>Version Control Interface</a:t>
                </a:r>
                <a:endParaRPr dirty="0">
                  <a:latin typeface="Urbanist" panose="020B0604020202020204" charset="0"/>
                  <a:ea typeface="Urbanist" panose="020B0604020202020204" charset="0"/>
                  <a:cs typeface="Urbanist" panose="020B0604020202020204" charset="0"/>
                </a:endParaRPr>
              </a:p>
            </p:txBody>
          </p:sp>
          <p:pic>
            <p:nvPicPr>
              <p:cNvPr id="137" name="Google Shape;137;p16" descr="image.png"/>
              <p:cNvPicPr preferRelativeResize="0"/>
              <p:nvPr/>
            </p:nvPicPr>
            <p:blipFill rotWithShape="1">
              <a:blip r:embed="rId6">
                <a:alphaModFix/>
              </a:blip>
              <a:srcRect/>
              <a:stretch/>
            </p:blipFill>
            <p:spPr>
              <a:xfrm>
                <a:off x="762000" y="3938587"/>
                <a:ext cx="180975" cy="21907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2C86C396-8CBE-1538-149C-E31310AD73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0721" y="1285494"/>
            <a:ext cx="5206877" cy="4852755"/>
          </a:xfrm>
          <a:prstGeom prst="rect">
            <a:avLst/>
          </a:prstGeom>
        </p:spPr>
      </p:pic>
      <p:sp>
        <p:nvSpPr>
          <p:cNvPr id="8" name="Frame 7">
            <a:extLst>
              <a:ext uri="{FF2B5EF4-FFF2-40B4-BE49-F238E27FC236}">
                <a16:creationId xmlns:a16="http://schemas.microsoft.com/office/drawing/2014/main" id="{AA89740E-FFE4-8610-5B2D-DFDE9086AE34}"/>
              </a:ext>
            </a:extLst>
          </p:cNvPr>
          <p:cNvSpPr/>
          <p:nvPr/>
        </p:nvSpPr>
        <p:spPr>
          <a:xfrm>
            <a:off x="6708619" y="2172832"/>
            <a:ext cx="2190938" cy="497940"/>
          </a:xfrm>
          <a:prstGeom prst="fram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26048" y="1529806"/>
            <a:ext cx="5148546" cy="4662764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7"/>
          <p:cNvSpPr txBox="1"/>
          <p:nvPr/>
        </p:nvSpPr>
        <p:spPr>
          <a:xfrm>
            <a:off x="1003095" y="558945"/>
            <a:ext cx="11001375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rgbClr val="F5F5F5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ONE TIME</a:t>
            </a:r>
            <a:r>
              <a:rPr lang="en-US" sz="3600" b="1" i="0" u="none" strike="noStrike" cap="none" dirty="0">
                <a:solidFill>
                  <a:srgbClr val="F5F5F5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 </a:t>
            </a:r>
            <a:r>
              <a:rPr lang="en-US" sz="3600" b="1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SETUP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762000" y="571500"/>
            <a:ext cx="57150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Calibri"/>
            </a:endParaRPr>
          </a:p>
        </p:txBody>
      </p:sp>
      <p:sp>
        <p:nvSpPr>
          <p:cNvPr id="146" name="Google Shape;146;p17"/>
          <p:cNvSpPr txBox="1"/>
          <p:nvPr/>
        </p:nvSpPr>
        <p:spPr>
          <a:xfrm>
            <a:off x="323000" y="1764398"/>
            <a:ext cx="6180782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Run this in R Console 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to link your local commits to profile:</a:t>
            </a:r>
            <a:endParaRPr sz="1200"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47" name="Google Shape;147;p17"/>
          <p:cNvSpPr txBox="1"/>
          <p:nvPr/>
        </p:nvSpPr>
        <p:spPr>
          <a:xfrm>
            <a:off x="1152525" y="2859674"/>
            <a:ext cx="9886950" cy="18587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JetBrains Mono"/>
              </a:rPr>
              <a:t>   </a:t>
            </a:r>
            <a:r>
              <a:rPr lang="en-US" sz="1650" b="0" i="0" u="none" strike="noStrike" cap="none" dirty="0" err="1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JetBrains Mono"/>
              </a:rPr>
              <a:t>usethis</a:t>
            </a:r>
            <a:r>
              <a:rPr lang="en-US" sz="1650" b="0" i="0" u="none" strike="noStrike" cap="none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JetBrains Mono"/>
              </a:rPr>
              <a:t>::</a:t>
            </a:r>
            <a:r>
              <a:rPr lang="en-US" sz="1650" b="0" i="0" u="none" strike="noStrike" cap="none" dirty="0" err="1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JetBrains Mono"/>
              </a:rPr>
              <a:t>use_git_config</a:t>
            </a:r>
            <a:r>
              <a:rPr lang="en-US" sz="1650" b="0" i="0" u="none" strike="noStrike" cap="none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JetBrains Mono"/>
              </a:rPr>
              <a:t>(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Calibri"/>
              </a:rPr>
            </a:br>
            <a:r>
              <a:rPr lang="en-US" sz="1650" b="0" i="0" u="none" strike="noStrike" cap="none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JetBrains Mono"/>
              </a:rPr>
              <a:t>   user.name = "Your Name",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Calibri"/>
              </a:rPr>
            </a:br>
            <a:r>
              <a:rPr lang="en-US" sz="1650" b="0" i="0" u="none" strike="noStrike" cap="none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JetBrains Mono"/>
              </a:rPr>
              <a:t>   </a:t>
            </a:r>
            <a:r>
              <a:rPr lang="en-US" sz="1650" b="0" i="0" u="none" strike="noStrike" cap="none" dirty="0" err="1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JetBrains Mono"/>
              </a:rPr>
              <a:t>user.email</a:t>
            </a:r>
            <a:r>
              <a:rPr lang="en-US" sz="1650" b="0" i="0" u="none" strike="noStrike" cap="none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JetBrains Mono"/>
              </a:rPr>
              <a:t> = "your@email.com"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Calibri"/>
              </a:rPr>
            </a:br>
            <a:r>
              <a:rPr lang="en-US" sz="1650" b="0" i="0" u="none" strike="noStrike" cap="none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JetBrains Mono"/>
              </a:rPr>
              <a:t> )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sp>
        <p:nvSpPr>
          <p:cNvPr id="148" name="Google Shape;148;p17"/>
          <p:cNvSpPr txBox="1"/>
          <p:nvPr/>
        </p:nvSpPr>
        <p:spPr>
          <a:xfrm>
            <a:off x="1080097" y="4869811"/>
            <a:ext cx="9886950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1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* Note: Use the same email address as your GitHub account.</a:t>
            </a:r>
            <a:endParaRPr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pic>
        <p:nvPicPr>
          <p:cNvPr id="2" name="Google Shape;143;p17" descr="image.png">
            <a:extLst>
              <a:ext uri="{FF2B5EF4-FFF2-40B4-BE49-F238E27FC236}">
                <a16:creationId xmlns:a16="http://schemas.microsoft.com/office/drawing/2014/main" id="{F69BAAAC-9FE5-4EE4-078B-06FE47D3F66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49978" y="1529806"/>
            <a:ext cx="5071995" cy="466276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59;p18">
            <a:extLst>
              <a:ext uri="{FF2B5EF4-FFF2-40B4-BE49-F238E27FC236}">
                <a16:creationId xmlns:a16="http://schemas.microsoft.com/office/drawing/2014/main" id="{43683953-BB2F-1F4F-2BF8-187A44D7E8BC}"/>
              </a:ext>
            </a:extLst>
          </p:cNvPr>
          <p:cNvSpPr txBox="1"/>
          <p:nvPr/>
        </p:nvSpPr>
        <p:spPr>
          <a:xfrm>
            <a:off x="6317408" y="1836517"/>
            <a:ext cx="5789644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GitHub no longer accepts passwords for Git operations. </a:t>
            </a:r>
          </a:p>
          <a:p>
            <a:pPr algn="ctr">
              <a:lnSpc>
                <a:spcPct val="139925"/>
              </a:lnSpc>
            </a:pPr>
            <a:r>
              <a:rPr lang="en-US" sz="1600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We</a:t>
            </a:r>
            <a:r>
              <a:rPr lang="en-US" sz="1600" b="0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 must use a PAT (</a:t>
            </a:r>
            <a:r>
              <a:rPr lang="en-US" sz="1600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Personal Access Tokens </a:t>
            </a:r>
            <a:r>
              <a:rPr lang="en-US" sz="1600" b="0" i="0" u="none" strike="noStrike" cap="none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)</a:t>
            </a:r>
            <a:r>
              <a:rPr lang="en-US" sz="1600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 :</a:t>
            </a:r>
            <a:endParaRPr sz="1800" dirty="0"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</p:txBody>
      </p:sp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B59696F2-D5AE-29D1-A237-F4F10FF4939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69187010"/>
              </p:ext>
            </p:extLst>
          </p:nvPr>
        </p:nvGraphicFramePr>
        <p:xfrm>
          <a:off x="7172062" y="2756079"/>
          <a:ext cx="3794985" cy="31519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4320182"/>
            <a:ext cx="11430000" cy="2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858500" y="567690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346709" y="4886920"/>
            <a:ext cx="144018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GITHUB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381000" y="5172670"/>
            <a:ext cx="1371600" cy="519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Create a new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repository on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GitHub.com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1783496" y="3077467"/>
            <a:ext cx="144018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PROJECT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1817786" y="3363217"/>
            <a:ext cx="1371600" cy="552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Create a new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R Project</a:t>
            </a:r>
          </a:p>
          <a:p>
            <a:pPr marL="0" marR="0" lvl="0" indent="0" algn="ctr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"</a:t>
            </a:r>
            <a:r>
              <a:rPr lang="en-US" sz="975" b="1" i="1" u="none" strike="noStrike" cap="none" dirty="0" err="1">
                <a:solidFill>
                  <a:srgbClr val="BEE395"/>
                </a:solidFill>
                <a:latin typeface="Urbanist"/>
                <a:ea typeface="Urbanist"/>
                <a:cs typeface="Urbanist"/>
                <a:sym typeface="Urbanist"/>
              </a:rPr>
              <a:t>project.Rproj</a:t>
            </a:r>
            <a:r>
              <a:rPr lang="en-US" sz="975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"</a:t>
            </a:r>
            <a:endParaRPr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3220283" y="4886920"/>
            <a:ext cx="144018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TERMINAL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3254573" y="5172670"/>
            <a:ext cx="1371600" cy="34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Open the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Git Bash</a:t>
            </a:r>
            <a:r>
              <a:rPr lang="en-US" sz="975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tab</a:t>
            </a:r>
            <a:endParaRPr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4657070" y="3250703"/>
            <a:ext cx="144018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INITIALIZE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4691360" y="3536453"/>
            <a:ext cx="1371600" cy="464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Setup local repo</a:t>
            </a:r>
          </a:p>
          <a:p>
            <a:pPr marL="0" marR="0" lvl="0" indent="0" algn="ctr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1" dirty="0">
                <a:solidFill>
                  <a:schemeClr val="accent6"/>
                </a:solidFill>
                <a:latin typeface="Urbanist"/>
                <a:ea typeface="Urbanist"/>
                <a:cs typeface="Urbanist"/>
                <a:sym typeface="Urbanist"/>
              </a:rPr>
              <a:t>git </a:t>
            </a:r>
            <a:r>
              <a:rPr lang="en-US" sz="1200" b="1" dirty="0" err="1">
                <a:solidFill>
                  <a:schemeClr val="accent6"/>
                </a:solidFill>
                <a:latin typeface="Urbanist"/>
                <a:ea typeface="Urbanist"/>
                <a:cs typeface="Urbanist"/>
                <a:sym typeface="Urbanist"/>
              </a:rPr>
              <a:t>init</a:t>
            </a:r>
            <a:endParaRPr sz="1200" b="1" dirty="0">
              <a:solidFill>
                <a:schemeClr val="accent6"/>
              </a:solidFill>
              <a:latin typeface="Urbanist"/>
              <a:ea typeface="Urbanist"/>
              <a:cs typeface="Urbanist"/>
            </a:endParaRPr>
          </a:p>
        </p:txBody>
      </p:sp>
      <p:sp>
        <p:nvSpPr>
          <p:cNvPr id="95" name="Google Shape;95;p13"/>
          <p:cNvSpPr txBox="1"/>
          <p:nvPr/>
        </p:nvSpPr>
        <p:spPr>
          <a:xfrm>
            <a:off x="6093856" y="4886920"/>
            <a:ext cx="144018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STAGE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6128146" y="5172670"/>
            <a:ext cx="1371600" cy="464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Prepare files</a:t>
            </a:r>
          </a:p>
          <a:p>
            <a:pPr marL="0" marR="0" lvl="0" indent="0" algn="ctr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1" dirty="0">
                <a:solidFill>
                  <a:schemeClr val="accent6"/>
                </a:solidFill>
                <a:latin typeface="Urbanist"/>
                <a:ea typeface="Urbanist"/>
                <a:cs typeface="Urbanist"/>
                <a:sym typeface="Urbanist"/>
              </a:rPr>
              <a:t>git add .</a:t>
            </a:r>
            <a:endParaRPr sz="1200" b="1" dirty="0">
              <a:solidFill>
                <a:schemeClr val="accent6"/>
              </a:solidFill>
              <a:latin typeface="Urbanist"/>
              <a:ea typeface="Urbanist"/>
              <a:cs typeface="Urbanist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7530643" y="3064073"/>
            <a:ext cx="144018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COMMIT</a:t>
            </a:r>
            <a:endParaRPr dirty="0"/>
          </a:p>
        </p:txBody>
      </p:sp>
      <p:sp>
        <p:nvSpPr>
          <p:cNvPr id="98" name="Google Shape;98;p13"/>
          <p:cNvSpPr txBox="1"/>
          <p:nvPr/>
        </p:nvSpPr>
        <p:spPr>
          <a:xfrm>
            <a:off x="7564932" y="3349823"/>
            <a:ext cx="1436787" cy="464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Save snapshot</a:t>
            </a:r>
          </a:p>
          <a:p>
            <a:pPr marL="0" marR="0" lvl="0" indent="0" algn="ctr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1" dirty="0">
                <a:solidFill>
                  <a:schemeClr val="accent6"/>
                </a:solidFill>
                <a:latin typeface="Urbanist"/>
                <a:ea typeface="Urbanist"/>
                <a:cs typeface="Urbanist"/>
                <a:sym typeface="Urbanist"/>
              </a:rPr>
              <a:t>git commit -m "msg</a:t>
            </a:r>
            <a:r>
              <a:rPr lang="en-US" sz="975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"</a:t>
            </a:r>
            <a:endParaRPr dirty="0"/>
          </a:p>
        </p:txBody>
      </p:sp>
      <p:sp>
        <p:nvSpPr>
          <p:cNvPr id="99" name="Google Shape;99;p13"/>
          <p:cNvSpPr txBox="1"/>
          <p:nvPr/>
        </p:nvSpPr>
        <p:spPr>
          <a:xfrm>
            <a:off x="8967430" y="4886920"/>
            <a:ext cx="144018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LINK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9001720" y="5172670"/>
            <a:ext cx="1371600" cy="464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Connect GitHub</a:t>
            </a:r>
          </a:p>
          <a:p>
            <a:pPr marL="0" marR="0" lvl="0" indent="0" algn="ctr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1" dirty="0">
                <a:solidFill>
                  <a:schemeClr val="accent6"/>
                </a:solidFill>
                <a:latin typeface="Urbanist"/>
                <a:ea typeface="Urbanist"/>
                <a:cs typeface="Urbanist"/>
                <a:sym typeface="Urbanist"/>
              </a:rPr>
              <a:t>git remote add</a:t>
            </a:r>
            <a:endParaRPr sz="1200" b="1" dirty="0">
              <a:solidFill>
                <a:schemeClr val="accent6"/>
              </a:solidFill>
              <a:latin typeface="Urbanist"/>
              <a:ea typeface="Urbanist"/>
              <a:cs typeface="Urbanist"/>
            </a:endParaRPr>
          </a:p>
        </p:txBody>
      </p:sp>
      <p:sp>
        <p:nvSpPr>
          <p:cNvPr id="101" name="Google Shape;101;p13"/>
          <p:cNvSpPr txBox="1"/>
          <p:nvPr/>
        </p:nvSpPr>
        <p:spPr>
          <a:xfrm>
            <a:off x="10404217" y="3250703"/>
            <a:ext cx="144018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PUSH</a:t>
            </a:r>
            <a:endParaRPr/>
          </a:p>
        </p:txBody>
      </p:sp>
      <p:sp>
        <p:nvSpPr>
          <p:cNvPr id="102" name="Google Shape;102;p13"/>
          <p:cNvSpPr txBox="1"/>
          <p:nvPr/>
        </p:nvSpPr>
        <p:spPr>
          <a:xfrm>
            <a:off x="10438507" y="3536453"/>
            <a:ext cx="1371600" cy="464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Publish code</a:t>
            </a:r>
          </a:p>
          <a:p>
            <a:pPr marL="0" marR="0" lvl="0" indent="0" algn="ctr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1" dirty="0">
                <a:solidFill>
                  <a:schemeClr val="accent6"/>
                </a:solidFill>
                <a:latin typeface="Urbanist"/>
                <a:ea typeface="Urbanist"/>
                <a:cs typeface="Urbanist"/>
                <a:sym typeface="Urbanist"/>
              </a:rPr>
              <a:t>git push origin</a:t>
            </a:r>
            <a:endParaRPr sz="1200" b="1" dirty="0">
              <a:solidFill>
                <a:schemeClr val="accent6"/>
              </a:solidFill>
              <a:latin typeface="Urbanist"/>
              <a:ea typeface="Urbanist"/>
              <a:cs typeface="Urbanist"/>
            </a:endParaRPr>
          </a:p>
        </p:txBody>
      </p:sp>
      <p:sp>
        <p:nvSpPr>
          <p:cNvPr id="105" name="Google Shape;105;p13"/>
          <p:cNvSpPr/>
          <p:nvPr/>
        </p:nvSpPr>
        <p:spPr>
          <a:xfrm>
            <a:off x="971550" y="423922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28575" cap="flat" cmpd="sng">
            <a:solidFill>
              <a:srgbClr val="CCFF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3"/>
          <p:cNvSpPr/>
          <p:nvPr/>
        </p:nvSpPr>
        <p:spPr>
          <a:xfrm>
            <a:off x="2408336" y="423922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28575" cap="flat" cmpd="sng">
            <a:solidFill>
              <a:srgbClr val="CCFF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/>
          <p:nvPr/>
        </p:nvSpPr>
        <p:spPr>
          <a:xfrm>
            <a:off x="3845123" y="423922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28575" cap="flat" cmpd="sng">
            <a:solidFill>
              <a:srgbClr val="CCFF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3"/>
          <p:cNvSpPr/>
          <p:nvPr/>
        </p:nvSpPr>
        <p:spPr>
          <a:xfrm>
            <a:off x="5281910" y="423922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28575" cap="flat" cmpd="sng">
            <a:solidFill>
              <a:srgbClr val="CCFF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3"/>
          <p:cNvSpPr/>
          <p:nvPr/>
        </p:nvSpPr>
        <p:spPr>
          <a:xfrm>
            <a:off x="6718696" y="423922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28575" cap="flat" cmpd="sng">
            <a:solidFill>
              <a:srgbClr val="CCFF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3"/>
          <p:cNvSpPr/>
          <p:nvPr/>
        </p:nvSpPr>
        <p:spPr>
          <a:xfrm>
            <a:off x="8155483" y="423922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28575" cap="flat" cmpd="sng">
            <a:solidFill>
              <a:srgbClr val="CCFF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3"/>
          <p:cNvSpPr/>
          <p:nvPr/>
        </p:nvSpPr>
        <p:spPr>
          <a:xfrm>
            <a:off x="9592270" y="423922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28575" cap="flat" cmpd="sng">
            <a:solidFill>
              <a:srgbClr val="CCFF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3"/>
          <p:cNvSpPr/>
          <p:nvPr/>
        </p:nvSpPr>
        <p:spPr>
          <a:xfrm>
            <a:off x="11029057" y="423922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28575" cap="flat" cmpd="sng">
            <a:solidFill>
              <a:srgbClr val="CCFF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1;p13">
            <a:extLst>
              <a:ext uri="{FF2B5EF4-FFF2-40B4-BE49-F238E27FC236}">
                <a16:creationId xmlns:a16="http://schemas.microsoft.com/office/drawing/2014/main" id="{DB9DFDA1-5CCC-849E-5731-36073FBA3B8F}"/>
              </a:ext>
            </a:extLst>
          </p:cNvPr>
          <p:cNvSpPr txBox="1"/>
          <p:nvPr/>
        </p:nvSpPr>
        <p:spPr>
          <a:xfrm>
            <a:off x="762000" y="1077366"/>
            <a:ext cx="11401425" cy="733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48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GET </a:t>
            </a:r>
            <a:r>
              <a:rPr lang="en-US" sz="4800" b="1" dirty="0">
                <a:solidFill>
                  <a:srgbClr val="DEFF9A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STARTED</a:t>
            </a:r>
            <a:endParaRPr dirty="0"/>
          </a:p>
        </p:txBody>
      </p:sp>
      <p:sp>
        <p:nvSpPr>
          <p:cNvPr id="3" name="Google Shape;102;p13">
            <a:extLst>
              <a:ext uri="{FF2B5EF4-FFF2-40B4-BE49-F238E27FC236}">
                <a16:creationId xmlns:a16="http://schemas.microsoft.com/office/drawing/2014/main" id="{F66D0748-0211-EF43-02ED-04AB27CBC2F1}"/>
              </a:ext>
            </a:extLst>
          </p:cNvPr>
          <p:cNvSpPr/>
          <p:nvPr/>
        </p:nvSpPr>
        <p:spPr>
          <a:xfrm>
            <a:off x="571500" y="1077366"/>
            <a:ext cx="76200" cy="733425"/>
          </a:xfrm>
          <a:prstGeom prst="rect">
            <a:avLst/>
          </a:prstGeom>
          <a:solidFill>
            <a:srgbClr val="CCFF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4100512"/>
            <a:ext cx="10668000" cy="2857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708659" y="4686300"/>
            <a:ext cx="224028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BRANCH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762000" y="5010150"/>
            <a:ext cx="21336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Create a sandbox to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25" b="0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isolate your feature code.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3553360" y="2733675"/>
            <a:ext cx="224028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DEVELOP</a:t>
            </a:r>
            <a:endParaRPr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3606700" y="3057525"/>
            <a:ext cx="21336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Modify scripts in RStudio.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25" b="0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Stage and save snapshots.</a:t>
            </a:r>
            <a:endParaRPr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6398061" y="4686300"/>
            <a:ext cx="224028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PUSH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6451401" y="5010150"/>
            <a:ext cx="21336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Upload your branch and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25" b="0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commits to GitHub cloud.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9242762" y="2733675"/>
            <a:ext cx="224028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PULL REQUEST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9296102" y="3057525"/>
            <a:ext cx="21336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On GitHub.com, propose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25" b="0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merging code into main.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990600" y="571500"/>
            <a:ext cx="1096137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COLLABORATION</a:t>
            </a:r>
            <a:endParaRPr dirty="0"/>
          </a:p>
        </p:txBody>
      </p:sp>
      <p:sp>
        <p:nvSpPr>
          <p:cNvPr id="96" name="Google Shape;96;p13"/>
          <p:cNvSpPr/>
          <p:nvPr/>
        </p:nvSpPr>
        <p:spPr>
          <a:xfrm>
            <a:off x="762000" y="571500"/>
            <a:ext cx="95250" cy="609600"/>
          </a:xfrm>
          <a:prstGeom prst="rect">
            <a:avLst/>
          </a:prstGeom>
          <a:solidFill>
            <a:srgbClr val="CCFF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/>
          <p:nvPr/>
        </p:nvSpPr>
        <p:spPr>
          <a:xfrm>
            <a:off x="1724025" y="4010025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38100" cap="flat" cmpd="sng">
            <a:solidFill>
              <a:srgbClr val="CCFF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4568725" y="4010025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38100" cap="flat" cmpd="sng">
            <a:solidFill>
              <a:srgbClr val="CCFF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3"/>
          <p:cNvSpPr/>
          <p:nvPr/>
        </p:nvSpPr>
        <p:spPr>
          <a:xfrm>
            <a:off x="7413426" y="4010025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38100" cap="flat" cmpd="sng">
            <a:solidFill>
              <a:srgbClr val="CCFF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3"/>
          <p:cNvSpPr/>
          <p:nvPr/>
        </p:nvSpPr>
        <p:spPr>
          <a:xfrm>
            <a:off x="10258127" y="4010025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38100" cap="flat" cmpd="sng">
            <a:solidFill>
              <a:srgbClr val="CCFF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4185344"/>
            <a:ext cx="5143500" cy="140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4185344"/>
            <a:ext cx="5143500" cy="166687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/>
          <p:nvPr/>
        </p:nvSpPr>
        <p:spPr>
          <a:xfrm>
            <a:off x="762000" y="2423219"/>
            <a:ext cx="952500" cy="238125"/>
          </a:xfrm>
          <a:prstGeom prst="rect">
            <a:avLst/>
          </a:prstGeom>
          <a:solidFill>
            <a:srgbClr val="CCFF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876300" y="2461319"/>
            <a:ext cx="7239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0000"/>
                </a:solidFill>
                <a:latin typeface="Urbanist"/>
                <a:ea typeface="Urbanist"/>
                <a:cs typeface="Urbanist"/>
                <a:sym typeface="Urbanist"/>
              </a:rPr>
              <a:t>FIRST PUSH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762000" y="3032819"/>
            <a:ext cx="54006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CONNECT TO GITHUB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762000" y="3480494"/>
            <a:ext cx="5143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Link your local repository to the cloud and push your "main" branch for the first time.</a:t>
            </a:r>
            <a:endParaRPr/>
          </a:p>
        </p:txBody>
      </p:sp>
      <p:sp>
        <p:nvSpPr>
          <p:cNvPr id="91" name="Google Shape;91;p13"/>
          <p:cNvSpPr/>
          <p:nvPr/>
        </p:nvSpPr>
        <p:spPr>
          <a:xfrm>
            <a:off x="6286500" y="2423219"/>
            <a:ext cx="1333500" cy="238125"/>
          </a:xfrm>
          <a:prstGeom prst="rect">
            <a:avLst/>
          </a:prstGeom>
          <a:solidFill>
            <a:srgbClr val="CCFF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6400800" y="2461319"/>
            <a:ext cx="11049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0000"/>
                </a:solidFill>
                <a:latin typeface="Urbanist"/>
                <a:ea typeface="Urbanist"/>
                <a:cs typeface="Urbanist"/>
                <a:sym typeface="Urbanist"/>
              </a:rPr>
              <a:t>FEATURE BRANCH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6286500" y="3032819"/>
            <a:ext cx="54006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COLLABORATE SAFELY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6286500" y="3480494"/>
            <a:ext cx="5143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Create a new work stream, save your modifications, and share them on GitHub.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962025" y="4623494"/>
            <a:ext cx="4743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CCFF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</a:t>
            </a:r>
            <a:r>
              <a:rPr lang="en-US" sz="1125" b="0" i="0" u="none" strike="noStrike" cap="non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git remote add origin https://...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25" b="1" i="0" u="none" strike="noStrike" cap="none">
                <a:solidFill>
                  <a:srgbClr val="CCFF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</a:t>
            </a:r>
            <a:r>
              <a:rPr lang="en-US" sz="1125" b="0" i="0" u="none" strike="noStrike" cap="non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git branch -M main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25" b="1" i="0" u="none" strike="noStrike" cap="none">
                <a:solidFill>
                  <a:srgbClr val="CCFF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</a:t>
            </a:r>
            <a:r>
              <a:rPr lang="en-US" sz="1125" b="0" i="0" u="none" strike="noStrike" cap="non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git push -u origin main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6486525" y="4623494"/>
            <a:ext cx="474345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CCFF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</a:t>
            </a:r>
            <a:r>
              <a:rPr lang="en-US" sz="1125" b="0" i="0" u="none" strike="noStrike" cap="non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git checkout -b feature-a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25" b="0" i="1" u="none" strike="noStrike" cap="none">
                <a:solidFill>
                  <a:srgbClr val="55555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... edits made in RStudio ...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25" b="1" i="0" u="none" strike="noStrike" cap="none">
                <a:solidFill>
                  <a:srgbClr val="CCFF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</a:t>
            </a:r>
            <a:r>
              <a:rPr lang="en-US" sz="1125" b="0" i="0" u="none" strike="noStrike" cap="non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git commit -am "added feature"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25" b="1" i="0" u="none" strike="noStrike" cap="none">
                <a:solidFill>
                  <a:srgbClr val="CCFF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</a:t>
            </a:r>
            <a:r>
              <a:rPr lang="en-US" sz="1125" b="0" i="0" u="none" strike="noStrike" cap="non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git push origin feature-a</a:t>
            </a:r>
            <a:endParaRPr/>
          </a:p>
        </p:txBody>
      </p:sp>
      <p:sp>
        <p:nvSpPr>
          <p:cNvPr id="97" name="Google Shape;97;p13"/>
          <p:cNvSpPr/>
          <p:nvPr/>
        </p:nvSpPr>
        <p:spPr>
          <a:xfrm>
            <a:off x="962025" y="4385369"/>
            <a:ext cx="95250" cy="95250"/>
          </a:xfrm>
          <a:prstGeom prst="roundRect">
            <a:avLst>
              <a:gd name="adj" fmla="val 50000"/>
            </a:avLst>
          </a:prstGeom>
          <a:solidFill>
            <a:srgbClr val="FF5F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1114425" y="4385369"/>
            <a:ext cx="95250" cy="95250"/>
          </a:xfrm>
          <a:prstGeom prst="roundRect">
            <a:avLst>
              <a:gd name="adj" fmla="val 50000"/>
            </a:avLst>
          </a:prstGeom>
          <a:solidFill>
            <a:srgbClr val="FFBD2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3"/>
          <p:cNvSpPr/>
          <p:nvPr/>
        </p:nvSpPr>
        <p:spPr>
          <a:xfrm>
            <a:off x="1266825" y="4385369"/>
            <a:ext cx="95250" cy="95250"/>
          </a:xfrm>
          <a:prstGeom prst="roundRect">
            <a:avLst>
              <a:gd name="adj" fmla="val 50000"/>
            </a:avLst>
          </a:prstGeom>
          <a:solidFill>
            <a:srgbClr val="27C9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3"/>
          <p:cNvSpPr/>
          <p:nvPr/>
        </p:nvSpPr>
        <p:spPr>
          <a:xfrm>
            <a:off x="6486525" y="4385369"/>
            <a:ext cx="95250" cy="95250"/>
          </a:xfrm>
          <a:prstGeom prst="roundRect">
            <a:avLst>
              <a:gd name="adj" fmla="val 50000"/>
            </a:avLst>
          </a:prstGeom>
          <a:solidFill>
            <a:srgbClr val="FF5F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3"/>
          <p:cNvSpPr/>
          <p:nvPr/>
        </p:nvSpPr>
        <p:spPr>
          <a:xfrm>
            <a:off x="6638925" y="4385369"/>
            <a:ext cx="95250" cy="95250"/>
          </a:xfrm>
          <a:prstGeom prst="roundRect">
            <a:avLst>
              <a:gd name="adj" fmla="val 50000"/>
            </a:avLst>
          </a:prstGeom>
          <a:solidFill>
            <a:srgbClr val="FFBD2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3"/>
          <p:cNvSpPr/>
          <p:nvPr/>
        </p:nvSpPr>
        <p:spPr>
          <a:xfrm>
            <a:off x="6791325" y="4385369"/>
            <a:ext cx="95250" cy="95250"/>
          </a:xfrm>
          <a:prstGeom prst="roundRect">
            <a:avLst>
              <a:gd name="adj" fmla="val 50000"/>
            </a:avLst>
          </a:prstGeom>
          <a:solidFill>
            <a:srgbClr val="27C9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952500" y="998339"/>
            <a:ext cx="1100137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TERMINAL</a:t>
            </a:r>
            <a:r>
              <a:rPr lang="en-US" sz="4050" b="1" i="0" u="none" strike="noStrike" cap="none" dirty="0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 EXAMPLES</a:t>
            </a:r>
            <a:endParaRPr dirty="0"/>
          </a:p>
        </p:txBody>
      </p:sp>
      <p:sp>
        <p:nvSpPr>
          <p:cNvPr id="104" name="Google Shape;104;p13"/>
          <p:cNvSpPr/>
          <p:nvPr/>
        </p:nvSpPr>
        <p:spPr>
          <a:xfrm>
            <a:off x="762000" y="998339"/>
            <a:ext cx="76200" cy="514350"/>
          </a:xfrm>
          <a:prstGeom prst="rect">
            <a:avLst/>
          </a:prstGeom>
          <a:solidFill>
            <a:srgbClr val="CCFF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4"/>
          <p:cNvSpPr txBox="1"/>
          <p:nvPr/>
        </p:nvSpPr>
        <p:spPr>
          <a:xfrm>
            <a:off x="952500" y="998339"/>
            <a:ext cx="5150643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PULL</a:t>
            </a:r>
            <a:r>
              <a:rPr lang="en-US" sz="4050" b="1" i="0" u="none" strike="noStrike" cap="none" dirty="0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 REQUESTS</a:t>
            </a:r>
            <a:endParaRPr dirty="0"/>
          </a:p>
        </p:txBody>
      </p:sp>
      <p:sp>
        <p:nvSpPr>
          <p:cNvPr id="111" name="Google Shape;111;p14"/>
          <p:cNvSpPr/>
          <p:nvPr/>
        </p:nvSpPr>
        <p:spPr>
          <a:xfrm>
            <a:off x="762000" y="998339"/>
            <a:ext cx="76200" cy="514350"/>
          </a:xfrm>
          <a:prstGeom prst="rect">
            <a:avLst/>
          </a:prstGeom>
          <a:solidFill>
            <a:srgbClr val="CCFF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2" name="Google Shape;112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0"/>
            <a:ext cx="58578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/>
          <p:cNvSpPr/>
          <p:nvPr/>
        </p:nvSpPr>
        <p:spPr>
          <a:xfrm>
            <a:off x="762000" y="1988939"/>
            <a:ext cx="5095875" cy="238125"/>
          </a:xfrm>
          <a:prstGeom prst="rect">
            <a:avLst/>
          </a:prstGeom>
          <a:solidFill>
            <a:srgbClr val="CCFF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 txBox="1"/>
          <p:nvPr/>
        </p:nvSpPr>
        <p:spPr>
          <a:xfrm>
            <a:off x="876300" y="2027039"/>
            <a:ext cx="48672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0000"/>
                </a:solidFill>
                <a:latin typeface="Urbanist"/>
                <a:ea typeface="Urbanist"/>
                <a:cs typeface="Urbanist"/>
                <a:sym typeface="Urbanist"/>
              </a:rPr>
              <a:t>GITHUB.COM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762000" y="2598539"/>
            <a:ext cx="535066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FINALIZE THE REVIEW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762000" y="3189089"/>
            <a:ext cx="50958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Once your branch is pushed, head to GitHub to propose merging your code into the project.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762000" y="4046339"/>
            <a:ext cx="5095875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52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Compare &amp; PR:</a:t>
            </a:r>
            <a:r>
              <a:rPr lang="en-US" sz="135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GitHub will show a banner to start the merge request.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762000" y="4655939"/>
            <a:ext cx="509587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52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Assign Reviewers:</a:t>
            </a:r>
            <a:r>
              <a:rPr lang="en-US" sz="135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Tag your teammates to check your code.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762000" y="5055989"/>
            <a:ext cx="509587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52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Merge:</a:t>
            </a:r>
            <a:r>
              <a:rPr lang="en-US" sz="135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Once approved, hit Merge to update the main project.</a:t>
            </a:r>
            <a:endParaRPr/>
          </a:p>
        </p:txBody>
      </p:sp>
      <p:pic>
        <p:nvPicPr>
          <p:cNvPr id="120" name="Google Shape;120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4060626"/>
            <a:ext cx="1524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4670226"/>
            <a:ext cx="1524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5070276"/>
            <a:ext cx="15240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771525" y="2073622"/>
            <a:ext cx="1352550" cy="23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71525" y="3574702"/>
            <a:ext cx="5542508" cy="210487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771525" y="2406997"/>
            <a:ext cx="581963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WHEN CHANGES COLLIDE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771525" y="2854672"/>
            <a:ext cx="5542508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Conflicts occur when two collaborators edit the exact same line of code. Git stops the merge and inserts markers inside your script.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7076033" y="2112764"/>
            <a:ext cx="456166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THE 4-STEP RESOLUTION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7076033" y="2531864"/>
            <a:ext cx="4344441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Follow this terminal &amp; RStudio sequence to resolve conflicts perfectly: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1838325" y="3774727"/>
            <a:ext cx="4275683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CFF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cleanup.R</a:t>
            </a:r>
            <a:r>
              <a:rPr lang="en-US" sz="1050" b="0" i="0" u="none" strike="noStrike" cap="none">
                <a:solidFill>
                  <a:srgbClr val="6666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RStudio Editor</a:t>
            </a:r>
            <a:endParaRPr/>
          </a:p>
        </p:txBody>
      </p:sp>
      <p:sp>
        <p:nvSpPr>
          <p:cNvPr id="92" name="Google Shape;92;p13"/>
          <p:cNvSpPr/>
          <p:nvPr/>
        </p:nvSpPr>
        <p:spPr>
          <a:xfrm>
            <a:off x="971550" y="4041427"/>
            <a:ext cx="5142458" cy="9525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7361783" y="2998589"/>
            <a:ext cx="4058691" cy="497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Find:</a:t>
            </a: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Open the marked file in RStudio and look for conflict headers (&lt;&lt;&lt;&lt;&lt;&lt;&lt;).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7361783" y="3638550"/>
            <a:ext cx="4058691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Edit:</a:t>
            </a: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Decide which code to keep. Manually delete all conflict markers and keep the correct line of code.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7361783" y="4268985"/>
            <a:ext cx="4058691" cy="542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Stage:</a:t>
            </a: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Save the cleaned file and add it to the index using your Bash console: </a:t>
            </a:r>
            <a:r>
              <a:rPr lang="en-US" sz="1200" b="0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git add cleanup.R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7361783" y="4954637"/>
            <a:ext cx="4058691" cy="542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Commit &amp; Push:</a:t>
            </a: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Save the resolution snapshot and sync to the cloud: </a:t>
            </a:r>
            <a:r>
              <a:rPr lang="en-US" sz="1200" b="0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git commit -m "Resolve conflict"</a:t>
            </a:r>
            <a:endParaRPr/>
          </a:p>
        </p:txBody>
      </p:sp>
      <p:pic>
        <p:nvPicPr>
          <p:cNvPr id="97" name="Google Shape;97;p1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71550" y="4193827"/>
            <a:ext cx="24574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3"/>
          <p:cNvSpPr/>
          <p:nvPr/>
        </p:nvSpPr>
        <p:spPr>
          <a:xfrm>
            <a:off x="971550" y="4458592"/>
            <a:ext cx="5142458" cy="22666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1048792" y="4403377"/>
            <a:ext cx="5047208" cy="274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0" u="none" strike="noStrike" cap="none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data &lt;- data %&gt;% filter(age &gt;= 18)</a:t>
            </a:r>
            <a:endParaRPr dirty="0"/>
          </a:p>
        </p:txBody>
      </p:sp>
      <p:sp>
        <p:nvSpPr>
          <p:cNvPr id="100" name="Google Shape;100;p13"/>
          <p:cNvSpPr/>
          <p:nvPr/>
        </p:nvSpPr>
        <p:spPr>
          <a:xfrm>
            <a:off x="971550" y="4458592"/>
            <a:ext cx="28575" cy="226665"/>
          </a:xfrm>
          <a:prstGeom prst="rect">
            <a:avLst/>
          </a:prstGeom>
          <a:solidFill>
            <a:srgbClr val="27C9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3"/>
          <p:cNvSpPr txBox="1"/>
          <p:nvPr/>
        </p:nvSpPr>
        <p:spPr>
          <a:xfrm>
            <a:off x="971550" y="4742408"/>
            <a:ext cx="6667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6666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=======</a:t>
            </a:r>
            <a:endParaRPr/>
          </a:p>
        </p:txBody>
      </p:sp>
      <p:sp>
        <p:nvSpPr>
          <p:cNvPr id="102" name="Google Shape;102;p13"/>
          <p:cNvSpPr/>
          <p:nvPr/>
        </p:nvSpPr>
        <p:spPr>
          <a:xfrm>
            <a:off x="971550" y="4988123"/>
            <a:ext cx="5142458" cy="2266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066800" y="4940498"/>
            <a:ext cx="5047208" cy="226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data &lt;- data %&gt;% filter(age &gt; 17 &amp; active == TRUE)</a:t>
            </a:r>
            <a:endParaRPr dirty="0"/>
          </a:p>
        </p:txBody>
      </p:sp>
      <p:sp>
        <p:nvSpPr>
          <p:cNvPr id="104" name="Google Shape;104;p13"/>
          <p:cNvSpPr/>
          <p:nvPr/>
        </p:nvSpPr>
        <p:spPr>
          <a:xfrm>
            <a:off x="971550" y="4988123"/>
            <a:ext cx="28575" cy="226665"/>
          </a:xfrm>
          <a:prstGeom prst="rect">
            <a:avLst/>
          </a:prstGeom>
          <a:solidFill>
            <a:srgbClr val="FF5F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5" name="Google Shape;105;p1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71550" y="5252888"/>
            <a:ext cx="21526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3"/>
          <p:cNvSpPr txBox="1"/>
          <p:nvPr/>
        </p:nvSpPr>
        <p:spPr>
          <a:xfrm>
            <a:off x="7076033" y="2998589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/>
          </a:p>
        </p:txBody>
      </p:sp>
      <p:sp>
        <p:nvSpPr>
          <p:cNvPr id="107" name="Google Shape;107;p13"/>
          <p:cNvSpPr txBox="1"/>
          <p:nvPr/>
        </p:nvSpPr>
        <p:spPr>
          <a:xfrm>
            <a:off x="7076033" y="3638550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/>
          </a:p>
        </p:txBody>
      </p:sp>
      <p:sp>
        <p:nvSpPr>
          <p:cNvPr id="108" name="Google Shape;108;p13"/>
          <p:cNvSpPr txBox="1"/>
          <p:nvPr/>
        </p:nvSpPr>
        <p:spPr>
          <a:xfrm>
            <a:off x="7076033" y="4268985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/>
          </a:p>
        </p:txBody>
      </p:sp>
      <p:sp>
        <p:nvSpPr>
          <p:cNvPr id="109" name="Google Shape;109;p13"/>
          <p:cNvSpPr txBox="1"/>
          <p:nvPr/>
        </p:nvSpPr>
        <p:spPr>
          <a:xfrm>
            <a:off x="7076033" y="4954637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/>
          </a:p>
        </p:txBody>
      </p:sp>
      <p:pic>
        <p:nvPicPr>
          <p:cNvPr id="110" name="Google Shape;110;p13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71550" y="3793777"/>
            <a:ext cx="1047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3"/>
          <p:cNvSpPr txBox="1"/>
          <p:nvPr/>
        </p:nvSpPr>
        <p:spPr>
          <a:xfrm>
            <a:off x="962025" y="581025"/>
            <a:ext cx="1098137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HANDLING CONFLICTS</a:t>
            </a:r>
            <a:endParaRPr/>
          </a:p>
        </p:txBody>
      </p:sp>
      <p:sp>
        <p:nvSpPr>
          <p:cNvPr id="112" name="Google Shape;112;p13"/>
          <p:cNvSpPr/>
          <p:nvPr/>
        </p:nvSpPr>
        <p:spPr>
          <a:xfrm>
            <a:off x="771525" y="581025"/>
            <a:ext cx="76200" cy="514350"/>
          </a:xfrm>
          <a:prstGeom prst="rect">
            <a:avLst/>
          </a:prstGeom>
          <a:solidFill>
            <a:srgbClr val="CCFF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85533" y="2080766"/>
            <a:ext cx="4534941" cy="3591669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1525" y="2297459"/>
            <a:ext cx="2105025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771525" y="2630834"/>
            <a:ext cx="581963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FILTERING UNWANTED FILES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771525" y="3078509"/>
            <a:ext cx="5542508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Not every file belongs on GitHub. A .gitignore file tells Git precisely which files, file types, or entire folders to ignore entirely.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8057108" y="2280791"/>
            <a:ext cx="3163341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CCFF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.gitignore</a:t>
            </a:r>
            <a:r>
              <a:rPr lang="en-US" sz="1050" b="0" i="0" u="none" strike="noStrike" cap="none">
                <a:solidFill>
                  <a:srgbClr val="6666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Workspace Rules</a:t>
            </a:r>
            <a:endParaRPr/>
          </a:p>
        </p:txBody>
      </p:sp>
      <p:sp>
        <p:nvSpPr>
          <p:cNvPr id="90" name="Google Shape;90;p13"/>
          <p:cNvSpPr/>
          <p:nvPr/>
        </p:nvSpPr>
        <p:spPr>
          <a:xfrm>
            <a:off x="7085558" y="2547491"/>
            <a:ext cx="4134891" cy="9525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7085558" y="2699891"/>
            <a:ext cx="4134891" cy="277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32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1" u="none" strike="noStrike" cap="none">
                <a:solidFill>
                  <a:srgbClr val="55555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History files &amp; temp databases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1" i="0" u="none" strike="noStrike" cap="none">
                <a:solidFill>
                  <a:srgbClr val="FFBD2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.Rhistory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1" i="0" u="none" strike="noStrike" cap="none">
                <a:solidFill>
                  <a:srgbClr val="FFBD2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.RData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1" i="0" u="none" strike="noStrike" cap="none">
                <a:solidFill>
                  <a:srgbClr val="FFBD2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.Rproj.user/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0" i="1" u="none" strike="noStrike" cap="none">
                <a:solidFill>
                  <a:srgbClr val="55555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Exclude heavy raw datasets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0" i="0" u="none" strike="noStrike" cap="none">
                <a:solidFill>
                  <a:srgbClr val="60A5F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data/raw/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1" i="0" u="none" strike="noStrike" cap="none">
                <a:solidFill>
                  <a:srgbClr val="FFBD2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*.csv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1" i="0" u="none" strike="noStrike" cap="none">
                <a:solidFill>
                  <a:srgbClr val="FFBD2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*.rds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0" i="1" u="none" strike="noStrike" cap="none">
                <a:solidFill>
                  <a:srgbClr val="55555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Security Credentials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1" i="0" u="none" strike="noStrike" cap="none">
                <a:solidFill>
                  <a:srgbClr val="FFBD2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.env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50" b="1" i="0" u="none" strike="noStrike" cap="none">
                <a:solidFill>
                  <a:srgbClr val="FFBD2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config_secret.R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1057275" y="3798540"/>
            <a:ext cx="5256758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Avoid Big Uploads:</a:t>
            </a: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Prevent massive datasets (CSV, RDS) from slowing down your pushes.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1057275" y="4428976"/>
            <a:ext cx="5256758" cy="253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Secure Passwords:</a:t>
            </a: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Never push .env or secrets keys to the public cloud.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1057275" y="4825156"/>
            <a:ext cx="5256758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Ignore Local R junk:</a:t>
            </a: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Leave IDE configuration metadata behind so it doesn't clutter team file history.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771525" y="3798540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771525" y="4428976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771525" y="4825156"/>
            <a:ext cx="152400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/>
          </a:p>
        </p:txBody>
      </p:sp>
      <p:pic>
        <p:nvPicPr>
          <p:cNvPr id="98" name="Google Shape;98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085558" y="2299841"/>
            <a:ext cx="13335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62025" y="581025"/>
            <a:ext cx="10981372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CCFF66"/>
                </a:solidFill>
                <a:latin typeface="Urbanist"/>
                <a:ea typeface="Urbanist"/>
                <a:cs typeface="Urbanist"/>
                <a:sym typeface="Urbanist"/>
              </a:rPr>
              <a:t>KEEPING REPOS CLEAN</a:t>
            </a:r>
            <a:endParaRPr/>
          </a:p>
        </p:txBody>
      </p:sp>
      <p:sp>
        <p:nvSpPr>
          <p:cNvPr id="100" name="Google Shape;100;p13"/>
          <p:cNvSpPr/>
          <p:nvPr/>
        </p:nvSpPr>
        <p:spPr>
          <a:xfrm>
            <a:off x="771525" y="581025"/>
            <a:ext cx="76200" cy="514350"/>
          </a:xfrm>
          <a:prstGeom prst="rect">
            <a:avLst/>
          </a:prstGeom>
          <a:solidFill>
            <a:srgbClr val="CCFF6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</TotalTime>
  <Words>1007</Words>
  <Application>Microsoft Office PowerPoint</Application>
  <PresentationFormat>Widescreen</PresentationFormat>
  <Paragraphs>122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Urbanist</vt:lpstr>
      <vt:lpstr>Calibri</vt:lpstr>
      <vt:lpstr>JetBrains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User</dc:creator>
  <cp:lastModifiedBy>User</cp:lastModifiedBy>
  <cp:revision>11</cp:revision>
  <dcterms:modified xsi:type="dcterms:W3CDTF">2026-06-06T18:29:05Z</dcterms:modified>
</cp:coreProperties>
</file>