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BEE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45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6A122F-E103-4B44-9298-634E56F24B97}" type="doc">
      <dgm:prSet loTypeId="urn:microsoft.com/office/officeart/2005/8/layout/process4" loCatId="process" qsTypeId="urn:microsoft.com/office/officeart/2005/8/quickstyle/simple4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9FF4DE82-4AE3-4A93-A3A8-D1EC91938A0C}">
      <dgm:prSet phldrT="[Text]" phldr="0"/>
      <dgm:spPr/>
      <dgm:t>
        <a:bodyPr/>
        <a:lstStyle/>
        <a:p>
          <a:r>
            <a:rPr lang="en-US" b="1" dirty="0" err="1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Usethis</a:t>
          </a:r>
          <a:r>
            <a:rPr lang="en-US" b="1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::</a:t>
          </a:r>
          <a:r>
            <a:rPr lang="en-US" b="1" dirty="0" err="1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create_github_token</a:t>
          </a:r>
          <a:r>
            <a:rPr lang="en-US" b="1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()</a:t>
          </a:r>
        </a:p>
      </dgm:t>
    </dgm:pt>
    <dgm:pt modelId="{A12F850C-E39D-4B3D-8833-CB74C12FED4F}" type="parTrans" cxnId="{099C1B70-F0EB-47E9-A27C-A05A802C6EC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F01E5DD-B15F-48C6-ABCF-C05DF5ADBE31}" type="sibTrans" cxnId="{099C1B70-F0EB-47E9-A27C-A05A802C6EC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B7FEFAC-4022-46A2-96DA-21E3FD50D563}">
      <dgm:prSet phldrT="[Text]" phldr="0"/>
      <dgm:spPr/>
      <dgm:t>
        <a:bodyPr/>
        <a:lstStyle/>
        <a:p>
          <a:r>
            <a:rPr lang="en-US" i="1" dirty="0">
              <a:solidFill>
                <a:schemeClr val="tx1"/>
              </a:solidFill>
              <a:latin typeface="IDLC" pitchFamily="2" charset="0"/>
              <a:cs typeface="IDLC" pitchFamily="2" charset="0"/>
            </a:rPr>
            <a:t>Launches GitHub authentication Configuration</a:t>
          </a:r>
        </a:p>
      </dgm:t>
    </dgm:pt>
    <dgm:pt modelId="{086C0901-5C0B-406F-BD30-E9447317B264}" type="parTrans" cxnId="{837F5253-3BA7-453D-A7C2-64CB234999B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B4723BA-7EFB-42C5-8020-DD5A882F7C6F}" type="sibTrans" cxnId="{837F5253-3BA7-453D-A7C2-64CB234999B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A53FA2D-5476-44F4-8858-EA2D7C9188CC}">
      <dgm:prSet phldrT="[Text]" phldr="0"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Generate Token</a:t>
          </a:r>
        </a:p>
      </dgm:t>
    </dgm:pt>
    <dgm:pt modelId="{C3C7A970-61A1-47DD-8BC7-0C2372FB453D}" type="parTrans" cxnId="{8E569D34-E009-4298-824E-F1C5739C1E8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5B5D042-7401-403E-81C0-E2E99083D13F}" type="sibTrans" cxnId="{8E569D34-E009-4298-824E-F1C5739C1E8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F2489DE-5313-4438-8A51-A1003EE78C7C}">
      <dgm:prSet phldrT="[Text]" phldr="0"/>
      <dgm:spPr/>
      <dgm:t>
        <a:bodyPr/>
        <a:lstStyle/>
        <a:p>
          <a:r>
            <a:rPr lang="en-US" i="1" dirty="0">
              <a:solidFill>
                <a:schemeClr val="tx1"/>
              </a:solidFill>
              <a:latin typeface="IDLC" pitchFamily="2" charset="0"/>
              <a:cs typeface="IDLC" pitchFamily="2" charset="0"/>
            </a:rPr>
            <a:t>Generates a token. Copy this</a:t>
          </a:r>
        </a:p>
      </dgm:t>
    </dgm:pt>
    <dgm:pt modelId="{0E8F5CF4-731C-42C3-A4E3-D60E343963D4}" type="parTrans" cxnId="{9983405D-FC2E-415D-8EF1-D65EC34E062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7E2FB05-F9AF-44EC-96A0-10DA9138F830}" type="sibTrans" cxnId="{9983405D-FC2E-415D-8EF1-D65EC34E062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A5DC895-BB0C-40F8-B471-AC47FF787DD5}">
      <dgm:prSet phldrT="[Text]" phldr="0"/>
      <dgm:spPr/>
      <dgm:t>
        <a:bodyPr/>
        <a:lstStyle/>
        <a:p>
          <a:r>
            <a:rPr lang="en-US" b="1" dirty="0" err="1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gitcreds</a:t>
          </a:r>
          <a:r>
            <a:rPr lang="en-US" b="1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::</a:t>
          </a:r>
          <a:r>
            <a:rPr lang="en-US" b="1" dirty="0" err="1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gitcreds_set</a:t>
          </a:r>
          <a:r>
            <a:rPr lang="en-US" b="1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()</a:t>
          </a:r>
        </a:p>
      </dgm:t>
    </dgm:pt>
    <dgm:pt modelId="{6F63D350-D599-46F1-8AC7-01E5C536B5F9}" type="parTrans" cxnId="{B6E3E77B-69A4-4B97-A5EF-5030AF5796C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AAFCF2D-2A93-492E-BA09-8A8C9F64FFD0}" type="sibTrans" cxnId="{B6E3E77B-69A4-4B97-A5EF-5030AF5796C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1BB52A4-F47B-4701-8DC2-C2D362D11BEA}">
      <dgm:prSet phldrT="[Text]" phldr="0"/>
      <dgm:spPr/>
      <dgm:t>
        <a:bodyPr/>
        <a:lstStyle/>
        <a:p>
          <a:r>
            <a:rPr lang="en-US" i="1" dirty="0">
              <a:solidFill>
                <a:schemeClr val="tx1"/>
              </a:solidFill>
              <a:latin typeface="IDLC" pitchFamily="2" charset="0"/>
              <a:cs typeface="IDLC" pitchFamily="2" charset="0"/>
            </a:rPr>
            <a:t>Paste the token here</a:t>
          </a:r>
        </a:p>
      </dgm:t>
    </dgm:pt>
    <dgm:pt modelId="{4B84767E-BAAF-4AA4-A449-7F6B7F2DAA30}" type="parTrans" cxnId="{E06A85F6-9853-45E8-8EE1-82EDCDAB610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C5811AD-BB09-4139-8EB4-C276B87A3603}" type="sibTrans" cxnId="{E06A85F6-9853-45E8-8EE1-82EDCDAB610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39088EA-86CA-4D5F-81E0-F504D4FB20CC}" type="pres">
      <dgm:prSet presAssocID="{846A122F-E103-4B44-9298-634E56F24B9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21861BE-0A6E-4F7D-AA99-D9788900AD4C}" type="pres">
      <dgm:prSet presAssocID="{DA5DC895-BB0C-40F8-B471-AC47FF787DD5}" presName="boxAndChildren" presStyleCnt="0"/>
      <dgm:spPr/>
    </dgm:pt>
    <dgm:pt modelId="{2E2CE860-9741-4824-A512-E59CE11345D0}" type="pres">
      <dgm:prSet presAssocID="{DA5DC895-BB0C-40F8-B471-AC47FF787DD5}" presName="parentTextBox" presStyleLbl="node1" presStyleIdx="0" presStyleCnt="3"/>
      <dgm:spPr/>
      <dgm:t>
        <a:bodyPr/>
        <a:lstStyle/>
        <a:p>
          <a:endParaRPr lang="en-US"/>
        </a:p>
      </dgm:t>
    </dgm:pt>
    <dgm:pt modelId="{28CF1DAA-44AC-4D8D-84EF-1340A6B8DF3E}" type="pres">
      <dgm:prSet presAssocID="{DA5DC895-BB0C-40F8-B471-AC47FF787DD5}" presName="entireBox" presStyleLbl="node1" presStyleIdx="0" presStyleCnt="3"/>
      <dgm:spPr/>
      <dgm:t>
        <a:bodyPr/>
        <a:lstStyle/>
        <a:p>
          <a:endParaRPr lang="en-US"/>
        </a:p>
      </dgm:t>
    </dgm:pt>
    <dgm:pt modelId="{D9743783-E986-4807-9A52-327A05CF1276}" type="pres">
      <dgm:prSet presAssocID="{DA5DC895-BB0C-40F8-B471-AC47FF787DD5}" presName="descendantBox" presStyleCnt="0"/>
      <dgm:spPr/>
    </dgm:pt>
    <dgm:pt modelId="{BF4277A5-6432-4F95-AD65-54BA2960A7A4}" type="pres">
      <dgm:prSet presAssocID="{01BB52A4-F47B-4701-8DC2-C2D362D11BEA}" presName="childTextBox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20B6E3-4304-4E27-9219-125F5F7561CF}" type="pres">
      <dgm:prSet presAssocID="{55B5D042-7401-403E-81C0-E2E99083D13F}" presName="sp" presStyleCnt="0"/>
      <dgm:spPr/>
    </dgm:pt>
    <dgm:pt modelId="{8DF9A2BE-2D66-4969-AE00-3EB45ACC57DB}" type="pres">
      <dgm:prSet presAssocID="{8A53FA2D-5476-44F4-8858-EA2D7C9188CC}" presName="arrowAndChildren" presStyleCnt="0"/>
      <dgm:spPr/>
    </dgm:pt>
    <dgm:pt modelId="{A7B497D3-8456-4DAE-8D2D-32262AE4E45E}" type="pres">
      <dgm:prSet presAssocID="{8A53FA2D-5476-44F4-8858-EA2D7C9188CC}" presName="parentTextArrow" presStyleLbl="node1" presStyleIdx="0" presStyleCnt="3"/>
      <dgm:spPr/>
      <dgm:t>
        <a:bodyPr/>
        <a:lstStyle/>
        <a:p>
          <a:endParaRPr lang="en-US"/>
        </a:p>
      </dgm:t>
    </dgm:pt>
    <dgm:pt modelId="{F8EB6A61-DC24-4717-94AC-74EF8D491873}" type="pres">
      <dgm:prSet presAssocID="{8A53FA2D-5476-44F4-8858-EA2D7C9188CC}" presName="arrow" presStyleLbl="node1" presStyleIdx="1" presStyleCnt="3" custLinFactNeighborX="-30696" custLinFactNeighborY="-302"/>
      <dgm:spPr/>
      <dgm:t>
        <a:bodyPr/>
        <a:lstStyle/>
        <a:p>
          <a:endParaRPr lang="en-US"/>
        </a:p>
      </dgm:t>
    </dgm:pt>
    <dgm:pt modelId="{5512F83E-97C3-4760-8075-F0466174D8C5}" type="pres">
      <dgm:prSet presAssocID="{8A53FA2D-5476-44F4-8858-EA2D7C9188CC}" presName="descendantArrow" presStyleCnt="0"/>
      <dgm:spPr/>
    </dgm:pt>
    <dgm:pt modelId="{BCDC24D4-542C-412C-A82E-328C46DA3225}" type="pres">
      <dgm:prSet presAssocID="{CF2489DE-5313-4438-8A51-A1003EE78C7C}" presName="childTextArrow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5399F9-3445-48E3-9596-1006FE6AC478}" type="pres">
      <dgm:prSet presAssocID="{8F01E5DD-B15F-48C6-ABCF-C05DF5ADBE31}" presName="sp" presStyleCnt="0"/>
      <dgm:spPr/>
    </dgm:pt>
    <dgm:pt modelId="{38C2E0F2-548F-4592-A0C2-5526722E5416}" type="pres">
      <dgm:prSet presAssocID="{9FF4DE82-4AE3-4A93-A3A8-D1EC91938A0C}" presName="arrowAndChildren" presStyleCnt="0"/>
      <dgm:spPr/>
    </dgm:pt>
    <dgm:pt modelId="{D36A9558-9300-4802-852B-CD33D4F18457}" type="pres">
      <dgm:prSet presAssocID="{9FF4DE82-4AE3-4A93-A3A8-D1EC91938A0C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BFFEBD7C-987E-440B-8E76-ADB9F767FCB7}" type="pres">
      <dgm:prSet presAssocID="{9FF4DE82-4AE3-4A93-A3A8-D1EC91938A0C}" presName="arrow" presStyleLbl="node1" presStyleIdx="2" presStyleCnt="3"/>
      <dgm:spPr/>
      <dgm:t>
        <a:bodyPr/>
        <a:lstStyle/>
        <a:p>
          <a:endParaRPr lang="en-US"/>
        </a:p>
      </dgm:t>
    </dgm:pt>
    <dgm:pt modelId="{5B9C669B-249C-4E7A-B682-C0CCC51CC789}" type="pres">
      <dgm:prSet presAssocID="{9FF4DE82-4AE3-4A93-A3A8-D1EC91938A0C}" presName="descendantArrow" presStyleCnt="0"/>
      <dgm:spPr/>
    </dgm:pt>
    <dgm:pt modelId="{0BE0B7A8-6E6D-43C3-8BC7-05C625583171}" type="pres">
      <dgm:prSet presAssocID="{EB7FEFAC-4022-46A2-96DA-21E3FD50D563}" presName="childTextArrow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8A9750-C39C-44BD-8427-E77850B04646}" type="presOf" srcId="{8A53FA2D-5476-44F4-8858-EA2D7C9188CC}" destId="{A7B497D3-8456-4DAE-8D2D-32262AE4E45E}" srcOrd="0" destOrd="0" presId="urn:microsoft.com/office/officeart/2005/8/layout/process4"/>
    <dgm:cxn modelId="{099C1B70-F0EB-47E9-A27C-A05A802C6ECB}" srcId="{846A122F-E103-4B44-9298-634E56F24B97}" destId="{9FF4DE82-4AE3-4A93-A3A8-D1EC91938A0C}" srcOrd="0" destOrd="0" parTransId="{A12F850C-E39D-4B3D-8833-CB74C12FED4F}" sibTransId="{8F01E5DD-B15F-48C6-ABCF-C05DF5ADBE31}"/>
    <dgm:cxn modelId="{223FCD36-6340-4774-8F8D-18C474EB3273}" type="presOf" srcId="{9FF4DE82-4AE3-4A93-A3A8-D1EC91938A0C}" destId="{D36A9558-9300-4802-852B-CD33D4F18457}" srcOrd="0" destOrd="0" presId="urn:microsoft.com/office/officeart/2005/8/layout/process4"/>
    <dgm:cxn modelId="{B6E3E77B-69A4-4B97-A5EF-5030AF5796CA}" srcId="{846A122F-E103-4B44-9298-634E56F24B97}" destId="{DA5DC895-BB0C-40F8-B471-AC47FF787DD5}" srcOrd="2" destOrd="0" parTransId="{6F63D350-D599-46F1-8AC7-01E5C536B5F9}" sibTransId="{FAAFCF2D-2A93-492E-BA09-8A8C9F64FFD0}"/>
    <dgm:cxn modelId="{D56A978C-5244-4994-8434-566CCCF5D2B7}" type="presOf" srcId="{01BB52A4-F47B-4701-8DC2-C2D362D11BEA}" destId="{BF4277A5-6432-4F95-AD65-54BA2960A7A4}" srcOrd="0" destOrd="0" presId="urn:microsoft.com/office/officeart/2005/8/layout/process4"/>
    <dgm:cxn modelId="{005E8DE4-0905-41B4-9591-BFE14BF95CE9}" type="presOf" srcId="{846A122F-E103-4B44-9298-634E56F24B97}" destId="{639088EA-86CA-4D5F-81E0-F504D4FB20CC}" srcOrd="0" destOrd="0" presId="urn:microsoft.com/office/officeart/2005/8/layout/process4"/>
    <dgm:cxn modelId="{8E569D34-E009-4298-824E-F1C5739C1E81}" srcId="{846A122F-E103-4B44-9298-634E56F24B97}" destId="{8A53FA2D-5476-44F4-8858-EA2D7C9188CC}" srcOrd="1" destOrd="0" parTransId="{C3C7A970-61A1-47DD-8BC7-0C2372FB453D}" sibTransId="{55B5D042-7401-403E-81C0-E2E99083D13F}"/>
    <dgm:cxn modelId="{62BFE877-C7B6-4E68-8E45-AEB924394F29}" type="presOf" srcId="{CF2489DE-5313-4438-8A51-A1003EE78C7C}" destId="{BCDC24D4-542C-412C-A82E-328C46DA3225}" srcOrd="0" destOrd="0" presId="urn:microsoft.com/office/officeart/2005/8/layout/process4"/>
    <dgm:cxn modelId="{837F5253-3BA7-453D-A7C2-64CB234999BD}" srcId="{9FF4DE82-4AE3-4A93-A3A8-D1EC91938A0C}" destId="{EB7FEFAC-4022-46A2-96DA-21E3FD50D563}" srcOrd="0" destOrd="0" parTransId="{086C0901-5C0B-406F-BD30-E9447317B264}" sibTransId="{8B4723BA-7EFB-42C5-8020-DD5A882F7C6F}"/>
    <dgm:cxn modelId="{1384CA8B-7492-4F83-88CE-8E01E390200E}" type="presOf" srcId="{EB7FEFAC-4022-46A2-96DA-21E3FD50D563}" destId="{0BE0B7A8-6E6D-43C3-8BC7-05C625583171}" srcOrd="0" destOrd="0" presId="urn:microsoft.com/office/officeart/2005/8/layout/process4"/>
    <dgm:cxn modelId="{E06A85F6-9853-45E8-8EE1-82EDCDAB610A}" srcId="{DA5DC895-BB0C-40F8-B471-AC47FF787DD5}" destId="{01BB52A4-F47B-4701-8DC2-C2D362D11BEA}" srcOrd="0" destOrd="0" parTransId="{4B84767E-BAAF-4AA4-A449-7F6B7F2DAA30}" sibTransId="{FC5811AD-BB09-4139-8EB4-C276B87A3603}"/>
    <dgm:cxn modelId="{AD3B3629-7D31-4E10-958F-28AEB67F5EB3}" type="presOf" srcId="{8A53FA2D-5476-44F4-8858-EA2D7C9188CC}" destId="{F8EB6A61-DC24-4717-94AC-74EF8D491873}" srcOrd="1" destOrd="0" presId="urn:microsoft.com/office/officeart/2005/8/layout/process4"/>
    <dgm:cxn modelId="{D395E099-AC7F-4105-8868-00E9C4A5682C}" type="presOf" srcId="{DA5DC895-BB0C-40F8-B471-AC47FF787DD5}" destId="{2E2CE860-9741-4824-A512-E59CE11345D0}" srcOrd="0" destOrd="0" presId="urn:microsoft.com/office/officeart/2005/8/layout/process4"/>
    <dgm:cxn modelId="{24AF1029-53B1-40B3-AA8D-CB261F6D93B3}" type="presOf" srcId="{DA5DC895-BB0C-40F8-B471-AC47FF787DD5}" destId="{28CF1DAA-44AC-4D8D-84EF-1340A6B8DF3E}" srcOrd="1" destOrd="0" presId="urn:microsoft.com/office/officeart/2005/8/layout/process4"/>
    <dgm:cxn modelId="{E59EBD97-8689-4B3C-86A7-A03EDA49C368}" type="presOf" srcId="{9FF4DE82-4AE3-4A93-A3A8-D1EC91938A0C}" destId="{BFFEBD7C-987E-440B-8E76-ADB9F767FCB7}" srcOrd="1" destOrd="0" presId="urn:microsoft.com/office/officeart/2005/8/layout/process4"/>
    <dgm:cxn modelId="{9983405D-FC2E-415D-8EF1-D65EC34E0627}" srcId="{8A53FA2D-5476-44F4-8858-EA2D7C9188CC}" destId="{CF2489DE-5313-4438-8A51-A1003EE78C7C}" srcOrd="0" destOrd="0" parTransId="{0E8F5CF4-731C-42C3-A4E3-D60E343963D4}" sibTransId="{77E2FB05-F9AF-44EC-96A0-10DA9138F830}"/>
    <dgm:cxn modelId="{E24EE398-16AF-4842-9D7F-BFAFAD5DFF6C}" type="presParOf" srcId="{639088EA-86CA-4D5F-81E0-F504D4FB20CC}" destId="{721861BE-0A6E-4F7D-AA99-D9788900AD4C}" srcOrd="0" destOrd="0" presId="urn:microsoft.com/office/officeart/2005/8/layout/process4"/>
    <dgm:cxn modelId="{68C17845-5983-4749-9CD0-CCB35B47EF11}" type="presParOf" srcId="{721861BE-0A6E-4F7D-AA99-D9788900AD4C}" destId="{2E2CE860-9741-4824-A512-E59CE11345D0}" srcOrd="0" destOrd="0" presId="urn:microsoft.com/office/officeart/2005/8/layout/process4"/>
    <dgm:cxn modelId="{8280EFAA-1DD5-40CC-BE8E-0C2B55AB2911}" type="presParOf" srcId="{721861BE-0A6E-4F7D-AA99-D9788900AD4C}" destId="{28CF1DAA-44AC-4D8D-84EF-1340A6B8DF3E}" srcOrd="1" destOrd="0" presId="urn:microsoft.com/office/officeart/2005/8/layout/process4"/>
    <dgm:cxn modelId="{BCE38B87-8E27-4912-ADD4-2A6E0B25763E}" type="presParOf" srcId="{721861BE-0A6E-4F7D-AA99-D9788900AD4C}" destId="{D9743783-E986-4807-9A52-327A05CF1276}" srcOrd="2" destOrd="0" presId="urn:microsoft.com/office/officeart/2005/8/layout/process4"/>
    <dgm:cxn modelId="{E7289B61-4FFC-4BFF-AB66-FA7D5B837C54}" type="presParOf" srcId="{D9743783-E986-4807-9A52-327A05CF1276}" destId="{BF4277A5-6432-4F95-AD65-54BA2960A7A4}" srcOrd="0" destOrd="0" presId="urn:microsoft.com/office/officeart/2005/8/layout/process4"/>
    <dgm:cxn modelId="{7B7A832C-D357-4D2F-BD24-CA72D65E3858}" type="presParOf" srcId="{639088EA-86CA-4D5F-81E0-F504D4FB20CC}" destId="{9A20B6E3-4304-4E27-9219-125F5F7561CF}" srcOrd="1" destOrd="0" presId="urn:microsoft.com/office/officeart/2005/8/layout/process4"/>
    <dgm:cxn modelId="{1227D7A5-1061-4AD5-92DC-F7591C68B025}" type="presParOf" srcId="{639088EA-86CA-4D5F-81E0-F504D4FB20CC}" destId="{8DF9A2BE-2D66-4969-AE00-3EB45ACC57DB}" srcOrd="2" destOrd="0" presId="urn:microsoft.com/office/officeart/2005/8/layout/process4"/>
    <dgm:cxn modelId="{F84B9E8B-8E76-4AB4-8CE6-B1A8387105B5}" type="presParOf" srcId="{8DF9A2BE-2D66-4969-AE00-3EB45ACC57DB}" destId="{A7B497D3-8456-4DAE-8D2D-32262AE4E45E}" srcOrd="0" destOrd="0" presId="urn:microsoft.com/office/officeart/2005/8/layout/process4"/>
    <dgm:cxn modelId="{931BCBDD-5A51-4A27-9128-F76E2FB6A05C}" type="presParOf" srcId="{8DF9A2BE-2D66-4969-AE00-3EB45ACC57DB}" destId="{F8EB6A61-DC24-4717-94AC-74EF8D491873}" srcOrd="1" destOrd="0" presId="urn:microsoft.com/office/officeart/2005/8/layout/process4"/>
    <dgm:cxn modelId="{F245DA8B-C56F-4306-BADE-8D3A54BCDE68}" type="presParOf" srcId="{8DF9A2BE-2D66-4969-AE00-3EB45ACC57DB}" destId="{5512F83E-97C3-4760-8075-F0466174D8C5}" srcOrd="2" destOrd="0" presId="urn:microsoft.com/office/officeart/2005/8/layout/process4"/>
    <dgm:cxn modelId="{55D16EB7-D1D6-44A4-852B-37DF99238537}" type="presParOf" srcId="{5512F83E-97C3-4760-8075-F0466174D8C5}" destId="{BCDC24D4-542C-412C-A82E-328C46DA3225}" srcOrd="0" destOrd="0" presId="urn:microsoft.com/office/officeart/2005/8/layout/process4"/>
    <dgm:cxn modelId="{BFDBC3BC-D131-4DF0-941F-2BB51C96D145}" type="presParOf" srcId="{639088EA-86CA-4D5F-81E0-F504D4FB20CC}" destId="{215399F9-3445-48E3-9596-1006FE6AC478}" srcOrd="3" destOrd="0" presId="urn:microsoft.com/office/officeart/2005/8/layout/process4"/>
    <dgm:cxn modelId="{5D3A8B94-058E-4C25-BD0E-5187FB6F2AD0}" type="presParOf" srcId="{639088EA-86CA-4D5F-81E0-F504D4FB20CC}" destId="{38C2E0F2-548F-4592-A0C2-5526722E5416}" srcOrd="4" destOrd="0" presId="urn:microsoft.com/office/officeart/2005/8/layout/process4"/>
    <dgm:cxn modelId="{662D896C-944B-40BD-B4DC-A51313F2C0CE}" type="presParOf" srcId="{38C2E0F2-548F-4592-A0C2-5526722E5416}" destId="{D36A9558-9300-4802-852B-CD33D4F18457}" srcOrd="0" destOrd="0" presId="urn:microsoft.com/office/officeart/2005/8/layout/process4"/>
    <dgm:cxn modelId="{97C9C86F-71BE-47DE-81B1-98FD3AB7B573}" type="presParOf" srcId="{38C2E0F2-548F-4592-A0C2-5526722E5416}" destId="{BFFEBD7C-987E-440B-8E76-ADB9F767FCB7}" srcOrd="1" destOrd="0" presId="urn:microsoft.com/office/officeart/2005/8/layout/process4"/>
    <dgm:cxn modelId="{4804E709-691A-4486-AAC3-D5320F8A9696}" type="presParOf" srcId="{38C2E0F2-548F-4592-A0C2-5526722E5416}" destId="{5B9C669B-249C-4E7A-B682-C0CCC51CC789}" srcOrd="2" destOrd="0" presId="urn:microsoft.com/office/officeart/2005/8/layout/process4"/>
    <dgm:cxn modelId="{94C573FD-20F2-4F47-BF2E-B74B14677728}" type="presParOf" srcId="{5B9C669B-249C-4E7A-B682-C0CCC51CC789}" destId="{0BE0B7A8-6E6D-43C3-8BC7-05C62558317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F1DAA-44AC-4D8D-84EF-1340A6B8DF3E}">
      <dsp:nvSpPr>
        <dsp:cNvPr id="0" name=""/>
        <dsp:cNvSpPr/>
      </dsp:nvSpPr>
      <dsp:spPr>
        <a:xfrm>
          <a:off x="0" y="2372654"/>
          <a:ext cx="3794985" cy="778758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err="1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gitcreds</a:t>
          </a:r>
          <a:r>
            <a:rPr lang="en-US" sz="1400" b="1" kern="1200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::</a:t>
          </a:r>
          <a:r>
            <a:rPr lang="en-US" sz="1400" b="1" kern="1200" dirty="0" err="1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gitcreds_set</a:t>
          </a:r>
          <a:r>
            <a:rPr lang="en-US" sz="1400" b="1" kern="1200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()</a:t>
          </a:r>
        </a:p>
      </dsp:txBody>
      <dsp:txXfrm>
        <a:off x="0" y="2372654"/>
        <a:ext cx="3794985" cy="420529"/>
      </dsp:txXfrm>
    </dsp:sp>
    <dsp:sp modelId="{BF4277A5-6432-4F95-AD65-54BA2960A7A4}">
      <dsp:nvSpPr>
        <dsp:cNvPr id="0" name=""/>
        <dsp:cNvSpPr/>
      </dsp:nvSpPr>
      <dsp:spPr>
        <a:xfrm>
          <a:off x="0" y="2777608"/>
          <a:ext cx="3794985" cy="35822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i="1" kern="1200" dirty="0">
              <a:solidFill>
                <a:schemeClr val="tx1"/>
              </a:solidFill>
              <a:latin typeface="IDLC" pitchFamily="2" charset="0"/>
              <a:cs typeface="IDLC" pitchFamily="2" charset="0"/>
            </a:rPr>
            <a:t>Paste the token here</a:t>
          </a:r>
        </a:p>
      </dsp:txBody>
      <dsp:txXfrm>
        <a:off x="0" y="2777608"/>
        <a:ext cx="3794985" cy="358228"/>
      </dsp:txXfrm>
    </dsp:sp>
    <dsp:sp modelId="{F8EB6A61-DC24-4717-94AC-74EF8D491873}">
      <dsp:nvSpPr>
        <dsp:cNvPr id="0" name=""/>
        <dsp:cNvSpPr/>
      </dsp:nvSpPr>
      <dsp:spPr>
        <a:xfrm rot="10800000">
          <a:off x="0" y="1182988"/>
          <a:ext cx="3794985" cy="1197730"/>
        </a:xfrm>
        <a:prstGeom prst="upArrowCallou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0000"/>
                <a:tint val="100000"/>
                <a:shade val="100000"/>
                <a:satMod val="13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000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Generate Token</a:t>
          </a:r>
        </a:p>
      </dsp:txBody>
      <dsp:txXfrm rot="-10800000">
        <a:off x="0" y="1182988"/>
        <a:ext cx="3794985" cy="420403"/>
      </dsp:txXfrm>
    </dsp:sp>
    <dsp:sp modelId="{BCDC24D4-542C-412C-A82E-328C46DA3225}">
      <dsp:nvSpPr>
        <dsp:cNvPr id="0" name=""/>
        <dsp:cNvSpPr/>
      </dsp:nvSpPr>
      <dsp:spPr>
        <a:xfrm>
          <a:off x="0" y="1607009"/>
          <a:ext cx="3794985" cy="35812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-2000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i="1" kern="1200" dirty="0">
              <a:solidFill>
                <a:schemeClr val="tx1"/>
              </a:solidFill>
              <a:latin typeface="IDLC" pitchFamily="2" charset="0"/>
              <a:cs typeface="IDLC" pitchFamily="2" charset="0"/>
            </a:rPr>
            <a:t>Generates a token. Copy this</a:t>
          </a:r>
        </a:p>
      </dsp:txBody>
      <dsp:txXfrm>
        <a:off x="0" y="1607009"/>
        <a:ext cx="3794985" cy="358121"/>
      </dsp:txXfrm>
    </dsp:sp>
    <dsp:sp modelId="{BFFEBD7C-987E-440B-8E76-ADB9F767FCB7}">
      <dsp:nvSpPr>
        <dsp:cNvPr id="0" name=""/>
        <dsp:cNvSpPr/>
      </dsp:nvSpPr>
      <dsp:spPr>
        <a:xfrm rot="10800000">
          <a:off x="0" y="557"/>
          <a:ext cx="3794985" cy="1197730"/>
        </a:xfrm>
        <a:prstGeom prst="upArrowCallou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tint val="100000"/>
                <a:shade val="100000"/>
                <a:satMod val="13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err="1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Usethis</a:t>
          </a:r>
          <a:r>
            <a:rPr lang="en-US" sz="1400" b="1" kern="1200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::</a:t>
          </a:r>
          <a:r>
            <a:rPr lang="en-US" sz="1400" b="1" kern="1200" dirty="0" err="1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create_github_token</a:t>
          </a:r>
          <a:r>
            <a:rPr lang="en-US" sz="1400" b="1" kern="1200" dirty="0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rPr>
            <a:t>()</a:t>
          </a:r>
        </a:p>
      </dsp:txBody>
      <dsp:txXfrm rot="-10800000">
        <a:off x="0" y="557"/>
        <a:ext cx="3794985" cy="420403"/>
      </dsp:txXfrm>
    </dsp:sp>
    <dsp:sp modelId="{0BE0B7A8-6E6D-43C3-8BC7-05C625583171}">
      <dsp:nvSpPr>
        <dsp:cNvPr id="0" name=""/>
        <dsp:cNvSpPr/>
      </dsp:nvSpPr>
      <dsp:spPr>
        <a:xfrm>
          <a:off x="0" y="420960"/>
          <a:ext cx="3794985" cy="35812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-4000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i="1" kern="1200" dirty="0">
              <a:solidFill>
                <a:schemeClr val="tx1"/>
              </a:solidFill>
              <a:latin typeface="IDLC" pitchFamily="2" charset="0"/>
              <a:cs typeface="IDLC" pitchFamily="2" charset="0"/>
            </a:rPr>
            <a:t>Launches GitHub authentication Configuration</a:t>
          </a:r>
        </a:p>
      </dsp:txBody>
      <dsp:txXfrm>
        <a:off x="0" y="420960"/>
        <a:ext cx="3794985" cy="358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080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5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0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microsoft.com/office/2007/relationships/hdphoto" Target="../media/hdphoto1.wdp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9045" y="1447065"/>
            <a:ext cx="1714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8568" y="3191243"/>
            <a:ext cx="1714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3460" y="369643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797944" y="1787038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0008394" y="2843150"/>
            <a:ext cx="1714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815981" y="39243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86475" y="685800"/>
            <a:ext cx="190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0" y="30480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631091" y="4635443"/>
            <a:ext cx="762000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95A8289-8DF9-8D85-38DC-2BFBE7561517}"/>
              </a:ext>
            </a:extLst>
          </p:cNvPr>
          <p:cNvGrpSpPr/>
          <p:nvPr/>
        </p:nvGrpSpPr>
        <p:grpSpPr>
          <a:xfrm>
            <a:off x="4079200" y="1392425"/>
            <a:ext cx="733831" cy="1220685"/>
            <a:chOff x="3979070" y="1502970"/>
            <a:chExt cx="733831" cy="1220685"/>
          </a:xfrm>
        </p:grpSpPr>
        <p:pic>
          <p:nvPicPr>
            <p:cNvPr id="95" name="Google Shape;95;p13" descr="image.png"/>
            <p:cNvPicPr preferRelativeResize="0"/>
            <p:nvPr/>
          </p:nvPicPr>
          <p:blipFill rotWithShape="1">
            <a:blip r:embed="rId12">
              <a:alphaModFix amt="70000"/>
            </a:blip>
            <a:srcRect/>
            <a:stretch/>
          </p:blipFill>
          <p:spPr>
            <a:xfrm>
              <a:off x="3979070" y="150297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3"/>
            <p:cNvSpPr txBox="1"/>
            <p:nvPr/>
          </p:nvSpPr>
          <p:spPr>
            <a:xfrm>
              <a:off x="4012814" y="2237880"/>
              <a:ext cx="700087" cy="48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50" b="1" i="0" u="none" strike="noStrike" cap="none" dirty="0">
                  <a:solidFill>
                    <a:srgbClr val="F5F5F5"/>
                  </a:solidFill>
                  <a:latin typeface="IDLC" pitchFamily="2" charset="0"/>
                  <a:ea typeface="Urbanist" panose="020B0604020202020204" charset="0"/>
                  <a:cs typeface="IDLC" pitchFamily="2" charset="0"/>
                  <a:sym typeface="Urbanist"/>
                </a:rPr>
                <a:t>GIT</a:t>
              </a:r>
              <a:endParaRPr dirty="0">
                <a:latin typeface="IDLC" pitchFamily="2" charset="0"/>
                <a:ea typeface="Urbanist" panose="020B0604020202020204" charset="0"/>
                <a:cs typeface="IDLC" pitchFamily="2" charset="0"/>
              </a:endParaRPr>
            </a:p>
          </p:txBody>
        </p:sp>
      </p:grpSp>
      <p:sp>
        <p:nvSpPr>
          <p:cNvPr id="99" name="Google Shape;99;p13"/>
          <p:cNvSpPr txBox="1"/>
          <p:nvPr/>
        </p:nvSpPr>
        <p:spPr>
          <a:xfrm>
            <a:off x="304800" y="45621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chemeClr val="bg1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Git vs GitHub </a:t>
            </a:r>
            <a:r>
              <a:rPr lang="en-US" sz="3900" b="1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: What's the difference ?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114EF4-F89E-93C3-4069-924EB56A50E6}"/>
              </a:ext>
            </a:extLst>
          </p:cNvPr>
          <p:cNvGrpSpPr/>
          <p:nvPr/>
        </p:nvGrpSpPr>
        <p:grpSpPr>
          <a:xfrm>
            <a:off x="8745387" y="1213695"/>
            <a:ext cx="1885704" cy="1462520"/>
            <a:chOff x="8553962" y="1261135"/>
            <a:chExt cx="1885704" cy="1462520"/>
          </a:xfrm>
        </p:grpSpPr>
        <p:sp>
          <p:nvSpPr>
            <p:cNvPr id="98" name="Google Shape;98;p13"/>
            <p:cNvSpPr txBox="1"/>
            <p:nvPr/>
          </p:nvSpPr>
          <p:spPr>
            <a:xfrm>
              <a:off x="8553962" y="2237880"/>
              <a:ext cx="1885704" cy="48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50" b="1" i="0" u="none" strike="noStrike" cap="none" dirty="0">
                  <a:solidFill>
                    <a:srgbClr val="F5F5F5"/>
                  </a:solidFill>
                  <a:latin typeface="IDLC" pitchFamily="2" charset="0"/>
                  <a:ea typeface="Urbanist" panose="020B0604020202020204" charset="0"/>
                  <a:cs typeface="IDLC" pitchFamily="2" charset="0"/>
                  <a:sym typeface="Urbanist"/>
                </a:rPr>
                <a:t>GITHUB</a:t>
              </a:r>
              <a:endParaRPr dirty="0">
                <a:latin typeface="IDLC" pitchFamily="2" charset="0"/>
                <a:ea typeface="Urbanist" panose="020B0604020202020204" charset="0"/>
                <a:cs typeface="IDLC" pitchFamily="2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4DF186-F8BE-8427-88FA-1FD54BBD9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70000"/>
            </a:blip>
            <a:stretch>
              <a:fillRect/>
            </a:stretch>
          </p:blipFill>
          <p:spPr>
            <a:xfrm>
              <a:off x="8879682" y="1261135"/>
              <a:ext cx="1146686" cy="1146686"/>
            </a:xfrm>
            <a:prstGeom prst="rect">
              <a:avLst/>
            </a:prstGeom>
          </p:spPr>
        </p:pic>
      </p:grpSp>
      <p:pic>
        <p:nvPicPr>
          <p:cNvPr id="1026" name="Picture 2" descr="Computer Icon White PNGs for Free Download">
            <a:extLst>
              <a:ext uri="{FF2B5EF4-FFF2-40B4-BE49-F238E27FC236}">
                <a16:creationId xmlns:a16="http://schemas.microsoft.com/office/drawing/2014/main" id="{8C026D88-9F5E-93E7-7533-AE55DB3FB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23138">
            <a:off x="2946306" y="4703628"/>
            <a:ext cx="1560497" cy="156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54113"/>
            <a:ext cx="10668000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2194619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 SemiBold"/>
              </a:rPr>
              <a:t>The "Final" Illusion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661344"/>
            <a:ext cx="5048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Without version control, tracking history turns into file accumulation chaos. Working manually leads to systemic traps: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47750" y="3766244"/>
            <a:ext cx="4762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Cluttered Directories: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Endless duplication of files just to save a historic snapshot.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047750" y="4452044"/>
            <a:ext cx="4762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Loss of Context: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Forgetting exactly what lines of code changed between version 3 and version 4 over time.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047750" y="5137844"/>
            <a:ext cx="4762500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Collaboration Blocking: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You cannot easily share a folder of 15 confusing files with a teammate and expect them to know which one works.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766244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4452044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62000" y="5137844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52500" y="982563"/>
            <a:ext cx="1100137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5F5F5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THE PROBLEM: </a:t>
            </a:r>
            <a:r>
              <a:rPr lang="en-US" sz="3900" b="1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NAMING NIGHTMARE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62000" y="9825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Urbanist" panose="020B0604020202020204" charset="0"/>
              <a:cs typeface="IDLC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618" y="2405805"/>
            <a:ext cx="3484076" cy="3949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405806"/>
            <a:ext cx="3365598" cy="394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05805"/>
            <a:ext cx="3365599" cy="39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152525" y="3491656"/>
            <a:ext cx="2713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 SemiBold"/>
              </a:rPr>
              <a:t>Granular Snapshots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3958381"/>
            <a:ext cx="25844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Instead of copying whole files, Git tracks incremental line changes precisely. Your project folder stays completely clean with just a single file visible.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803725" y="3491656"/>
            <a:ext cx="2713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 SemiBold"/>
              </a:rPr>
              <a:t>Flawless Time Travel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803725" y="3958381"/>
            <a:ext cx="25844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Faced with broken script executions? Seamlessly roll back your entire workspace to any precise historic commit instantly.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454925" y="3491656"/>
            <a:ext cx="271377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 SemiBold"/>
              </a:rPr>
              <a:t>Absolute Audit Trails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8454925" y="3958381"/>
            <a:ext cx="258454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Every dynamic modification maps directly back to an individual author signature, accurate timestamp, and contextual intent description.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2824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03725" y="2824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282490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952500" y="982563"/>
            <a:ext cx="1100137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5F5F5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THE CORE SOLUTION: </a:t>
            </a:r>
            <a:r>
              <a:rPr lang="en-US" sz="3900" b="1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TOTAL CONTROL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62000" y="9825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Urbanist" panose="020B0604020202020204" charset="0"/>
              <a:cs typeface="IDLC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86731"/>
            <a:ext cx="504825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501056"/>
            <a:ext cx="46482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381750" y="2186731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 SemiBold"/>
              </a:rPr>
              <a:t>Parallel Streams of Innovation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381750" y="2653456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Branching structures safely isolate work streams so you can code without breaking the baseline project: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667500" y="3453556"/>
            <a:ext cx="4762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The Baseline (main):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The pristine, production-ready code. This is the single source of truth.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667500" y="4139356"/>
            <a:ext cx="4762500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Feature Development (feature/</a:t>
            </a:r>
            <a:r>
              <a:rPr lang="en-US" sz="1425" b="1" i="0" u="none" strike="noStrike" cap="none" dirty="0" err="1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esau_calculator</a:t>
            </a:r>
            <a:r>
              <a:rPr lang="en-US" sz="1425" b="1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):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A safe sandbox where you build and test new models or logic without touching main.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667500" y="5096619"/>
            <a:ext cx="4762500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Bug Fixing (bugfix/</a:t>
            </a:r>
            <a:r>
              <a:rPr lang="en-US" sz="1425" b="1" i="0" u="none" strike="noStrike" cap="none" dirty="0" err="1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data_cleaning</a:t>
            </a:r>
            <a:r>
              <a:rPr lang="en-US" sz="1425" b="1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):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A quick, parallel branch spun up to fix a specific issue without interrupting the ongoing feature work.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381750" y="3453556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381750" y="4139356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381750" y="5096619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952500" y="982563"/>
            <a:ext cx="1100137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5F5F5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ADVANCED WORKFLOWS: </a:t>
            </a:r>
            <a:r>
              <a:rPr lang="en-US" sz="3900" b="1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BRANCHING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62000" y="982563"/>
            <a:ext cx="5715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Urbanist" panose="020B0604020202020204" charset="0"/>
              <a:cs typeface="IDLC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6583-838F-5495-D308-5A90B73216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C5ADB-DE43-4630-7563-A5DA96B9B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69738-4AFE-24C9-DBAA-C3D906B20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"/>
            <a:ext cx="12193058" cy="685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52500" y="571500"/>
            <a:ext cx="11001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RSTUDIO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CONFIGURATION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7620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Urbanist" panose="020B0604020202020204" charset="0"/>
              <a:cs typeface="IDLC" pitchFamily="2" charset="0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123950" y="3979448"/>
            <a:ext cx="4714875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Verify path to git.exe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B5EC32-12DB-914D-0A2C-7E16B287F36C}"/>
              </a:ext>
            </a:extLst>
          </p:cNvPr>
          <p:cNvGrpSpPr/>
          <p:nvPr/>
        </p:nvGrpSpPr>
        <p:grpSpPr>
          <a:xfrm>
            <a:off x="790575" y="2276194"/>
            <a:ext cx="5048250" cy="1323163"/>
            <a:chOff x="762000" y="2928044"/>
            <a:chExt cx="5048250" cy="132316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1048FE-7487-9A90-6CBA-E9FDF21E7019}"/>
                </a:ext>
              </a:extLst>
            </p:cNvPr>
            <p:cNvGrpSpPr/>
            <p:nvPr/>
          </p:nvGrpSpPr>
          <p:grpSpPr>
            <a:xfrm>
              <a:off x="762000" y="2928044"/>
              <a:ext cx="5048250" cy="355482"/>
              <a:chOff x="762000" y="2928044"/>
              <a:chExt cx="5048250" cy="355482"/>
            </a:xfrm>
          </p:grpSpPr>
          <p:sp>
            <p:nvSpPr>
              <p:cNvPr id="131" name="Google Shape;131;p16"/>
              <p:cNvSpPr txBox="1"/>
              <p:nvPr/>
            </p:nvSpPr>
            <p:spPr>
              <a:xfrm>
                <a:off x="1095375" y="2928044"/>
                <a:ext cx="4714875" cy="3554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DAFFDE"/>
                    </a:solidFill>
                    <a:latin typeface="IDLC" pitchFamily="2" charset="0"/>
                    <a:ea typeface="Urbanist" panose="020B0604020202020204" charset="0"/>
                    <a:cs typeface="IDLC" pitchFamily="2" charset="0"/>
                    <a:sym typeface="Urbanist"/>
                  </a:rPr>
                  <a:t>Navigate to </a:t>
                </a:r>
                <a:r>
                  <a:rPr lang="en-US" sz="1650" b="1" i="0" u="none" strike="noStrike" cap="none" dirty="0">
                    <a:solidFill>
                      <a:srgbClr val="DAFFDE"/>
                    </a:solidFill>
                    <a:latin typeface="IDLC" pitchFamily="2" charset="0"/>
                    <a:ea typeface="Urbanist" panose="020B0604020202020204" charset="0"/>
                    <a:cs typeface="IDLC" pitchFamily="2" charset="0"/>
                    <a:sym typeface="Urbanist"/>
                  </a:rPr>
                  <a:t>Tools &gt; Global Options</a:t>
                </a:r>
                <a:endParaRPr dirty="0">
                  <a:latin typeface="IDLC" pitchFamily="2" charset="0"/>
                  <a:ea typeface="Urbanist" panose="020B0604020202020204" charset="0"/>
                  <a:cs typeface="IDLC" pitchFamily="2" charset="0"/>
                </a:endParaRPr>
              </a:p>
            </p:txBody>
          </p:sp>
          <p:pic>
            <p:nvPicPr>
              <p:cNvPr id="135" name="Google Shape;135;p16" descr="image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762000" y="2970907"/>
                <a:ext cx="209550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49DE0D2-D9FD-0370-4E6A-2490FECC80BE}"/>
                </a:ext>
              </a:extLst>
            </p:cNvPr>
            <p:cNvGrpSpPr/>
            <p:nvPr/>
          </p:nvGrpSpPr>
          <p:grpSpPr>
            <a:xfrm>
              <a:off x="762000" y="3411884"/>
              <a:ext cx="5048250" cy="355482"/>
              <a:chOff x="762000" y="3411884"/>
              <a:chExt cx="5048250" cy="355482"/>
            </a:xfrm>
          </p:grpSpPr>
          <p:sp>
            <p:nvSpPr>
              <p:cNvPr id="132" name="Google Shape;132;p16"/>
              <p:cNvSpPr txBox="1"/>
              <p:nvPr/>
            </p:nvSpPr>
            <p:spPr>
              <a:xfrm>
                <a:off x="1095375" y="3411884"/>
                <a:ext cx="4714875" cy="3554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DAFFDE"/>
                    </a:solidFill>
                    <a:latin typeface="IDLC" pitchFamily="2" charset="0"/>
                    <a:ea typeface="Urbanist" panose="020B0604020202020204" charset="0"/>
                    <a:cs typeface="IDLC" pitchFamily="2" charset="0"/>
                    <a:sym typeface="Urbanist"/>
                  </a:rPr>
                  <a:t>Select the </a:t>
                </a:r>
                <a:r>
                  <a:rPr lang="en-US" sz="1650" b="1" i="0" u="none" strike="noStrike" cap="none" dirty="0">
                    <a:solidFill>
                      <a:srgbClr val="DAFFDE"/>
                    </a:solidFill>
                    <a:latin typeface="IDLC" pitchFamily="2" charset="0"/>
                    <a:ea typeface="Urbanist" panose="020B0604020202020204" charset="0"/>
                    <a:cs typeface="IDLC" pitchFamily="2" charset="0"/>
                    <a:sym typeface="Urbanist"/>
                  </a:rPr>
                  <a:t>Git/SVN</a:t>
                </a:r>
                <a:r>
                  <a:rPr lang="en-US" sz="1650" b="0" i="0" u="none" strike="noStrike" cap="none" dirty="0">
                    <a:solidFill>
                      <a:srgbClr val="DAFFDE"/>
                    </a:solidFill>
                    <a:latin typeface="IDLC" pitchFamily="2" charset="0"/>
                    <a:ea typeface="Urbanist" panose="020B0604020202020204" charset="0"/>
                    <a:cs typeface="IDLC" pitchFamily="2" charset="0"/>
                    <a:sym typeface="Urbanist"/>
                  </a:rPr>
                  <a:t> tab</a:t>
                </a:r>
                <a:endParaRPr dirty="0">
                  <a:latin typeface="IDLC" pitchFamily="2" charset="0"/>
                  <a:ea typeface="Urbanist" panose="020B0604020202020204" charset="0"/>
                  <a:cs typeface="IDLC" pitchFamily="2" charset="0"/>
                </a:endParaRPr>
              </a:p>
            </p:txBody>
          </p:sp>
          <p:pic>
            <p:nvPicPr>
              <p:cNvPr id="136" name="Google Shape;136;p16" descr="image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762000" y="3454747"/>
                <a:ext cx="18097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6123C5E-05CF-001F-C78C-4DD7DC4A7148}"/>
                </a:ext>
              </a:extLst>
            </p:cNvPr>
            <p:cNvGrpSpPr/>
            <p:nvPr/>
          </p:nvGrpSpPr>
          <p:grpSpPr>
            <a:xfrm>
              <a:off x="762000" y="3895725"/>
              <a:ext cx="5048250" cy="355482"/>
              <a:chOff x="762000" y="3895725"/>
              <a:chExt cx="5048250" cy="355482"/>
            </a:xfrm>
          </p:grpSpPr>
          <p:sp>
            <p:nvSpPr>
              <p:cNvPr id="133" name="Google Shape;133;p16"/>
              <p:cNvSpPr txBox="1"/>
              <p:nvPr/>
            </p:nvSpPr>
            <p:spPr>
              <a:xfrm>
                <a:off x="1095375" y="3895725"/>
                <a:ext cx="4714875" cy="3554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DAFFDE"/>
                    </a:solidFill>
                    <a:latin typeface="IDLC" pitchFamily="2" charset="0"/>
                    <a:ea typeface="Urbanist" panose="020B0604020202020204" charset="0"/>
                    <a:cs typeface="IDLC" pitchFamily="2" charset="0"/>
                    <a:sym typeface="Urbanist"/>
                  </a:rPr>
                  <a:t>Enable </a:t>
                </a:r>
                <a:r>
                  <a:rPr lang="en-US" sz="1650" b="1" i="0" u="none" strike="noStrike" cap="none" dirty="0">
                    <a:solidFill>
                      <a:srgbClr val="DAFFDE"/>
                    </a:solidFill>
                    <a:latin typeface="IDLC" pitchFamily="2" charset="0"/>
                    <a:ea typeface="Urbanist" panose="020B0604020202020204" charset="0"/>
                    <a:cs typeface="IDLC" pitchFamily="2" charset="0"/>
                    <a:sym typeface="Urbanist"/>
                  </a:rPr>
                  <a:t>Version Control Interface</a:t>
                </a:r>
                <a:endParaRPr dirty="0">
                  <a:latin typeface="IDLC" pitchFamily="2" charset="0"/>
                  <a:ea typeface="Urbanist" panose="020B0604020202020204" charset="0"/>
                  <a:cs typeface="IDLC" pitchFamily="2" charset="0"/>
                </a:endParaRPr>
              </a:p>
            </p:txBody>
          </p:sp>
          <p:pic>
            <p:nvPicPr>
              <p:cNvPr id="137" name="Google Shape;137;p16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762000" y="3938587"/>
                <a:ext cx="180975" cy="21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C86C396-8CBE-1538-149C-E31310AD7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0721" y="1285494"/>
            <a:ext cx="5206877" cy="4852755"/>
          </a:xfrm>
          <a:prstGeom prst="rect">
            <a:avLst/>
          </a:prstGeom>
        </p:spPr>
      </p:pic>
      <p:sp>
        <p:nvSpPr>
          <p:cNvPr id="8" name="Frame 7">
            <a:extLst>
              <a:ext uri="{FF2B5EF4-FFF2-40B4-BE49-F238E27FC236}">
                <a16:creationId xmlns:a16="http://schemas.microsoft.com/office/drawing/2014/main" id="{AA89740E-FFE4-8610-5B2D-DFDE9086AE34}"/>
              </a:ext>
            </a:extLst>
          </p:cNvPr>
          <p:cNvSpPr/>
          <p:nvPr/>
        </p:nvSpPr>
        <p:spPr>
          <a:xfrm>
            <a:off x="6708619" y="2172832"/>
            <a:ext cx="2190938" cy="497940"/>
          </a:xfrm>
          <a:prstGeom prst="fram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048" y="1529806"/>
            <a:ext cx="5148546" cy="466276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1003095" y="558945"/>
            <a:ext cx="11001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ONE TIME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</a:t>
            </a:r>
            <a:r>
              <a:rPr lang="en-US" sz="3600" b="1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SETUP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620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Urbanist" panose="020B0604020202020204" charset="0"/>
              <a:cs typeface="IDLC" pitchFamily="2" charset="0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323000" y="1764398"/>
            <a:ext cx="6180782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Run this in R Console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to link your local commits to profile:</a:t>
            </a:r>
            <a:endParaRPr sz="1200"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152525" y="2859674"/>
            <a:ext cx="9886950" cy="185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   </a:t>
            </a:r>
            <a:r>
              <a:rPr lang="en-US" sz="1650" b="0" i="0" u="none" strike="noStrike" cap="none" dirty="0" err="1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usethis</a:t>
            </a:r>
            <a:r>
              <a:rPr lang="en-US" sz="165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::</a:t>
            </a:r>
            <a:r>
              <a:rPr lang="en-US" sz="1650" b="0" i="0" u="none" strike="noStrike" cap="none" dirty="0" err="1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use_git_config</a:t>
            </a:r>
            <a:r>
              <a:rPr lang="en-US" sz="165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(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Calibri"/>
              </a:rPr>
            </a:br>
            <a:r>
              <a:rPr lang="en-US" sz="165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   user.name = "Your Name",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Calibri"/>
              </a:rPr>
            </a:br>
            <a:r>
              <a:rPr lang="en-US" sz="165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   </a:t>
            </a:r>
            <a:r>
              <a:rPr lang="en-US" sz="1650" b="0" i="0" u="none" strike="noStrike" cap="none" dirty="0" err="1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user.email</a:t>
            </a:r>
            <a:r>
              <a:rPr lang="en-US" sz="165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 = "your@email.com"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Calibri"/>
              </a:rPr>
            </a:br>
            <a:r>
              <a:rPr lang="en-US" sz="1650" b="0" i="0" u="none" strike="noStrike" cap="none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JetBrains Mono"/>
              </a:rPr>
              <a:t> )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080097" y="4869811"/>
            <a:ext cx="98869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* Note: Use the same email address as your GitHub account.</a:t>
            </a:r>
            <a:endParaRPr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pic>
        <p:nvPicPr>
          <p:cNvPr id="2" name="Google Shape;143;p17" descr="image.png">
            <a:extLst>
              <a:ext uri="{FF2B5EF4-FFF2-40B4-BE49-F238E27FC236}">
                <a16:creationId xmlns:a16="http://schemas.microsoft.com/office/drawing/2014/main" id="{F69BAAAC-9FE5-4EE4-078B-06FE47D3F6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9978" y="1529806"/>
            <a:ext cx="5071995" cy="46627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59;p18">
            <a:extLst>
              <a:ext uri="{FF2B5EF4-FFF2-40B4-BE49-F238E27FC236}">
                <a16:creationId xmlns:a16="http://schemas.microsoft.com/office/drawing/2014/main" id="{43683953-BB2F-1F4F-2BF8-187A44D7E8BC}"/>
              </a:ext>
            </a:extLst>
          </p:cNvPr>
          <p:cNvSpPr txBox="1"/>
          <p:nvPr/>
        </p:nvSpPr>
        <p:spPr>
          <a:xfrm>
            <a:off x="6317408" y="1836517"/>
            <a:ext cx="578964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GitHub no longer accepts passwords for Git operations. </a:t>
            </a:r>
          </a:p>
          <a:p>
            <a:pPr algn="ctr">
              <a:lnSpc>
                <a:spcPct val="139925"/>
              </a:lnSpc>
            </a:pPr>
            <a:r>
              <a:rPr lang="en-US" sz="1600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We</a:t>
            </a:r>
            <a:r>
              <a:rPr lang="en-US" sz="16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must use a PAT (</a:t>
            </a:r>
            <a:r>
              <a:rPr lang="en-US" sz="1600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Personal Access Tokens </a:t>
            </a:r>
            <a:r>
              <a:rPr lang="en-US" sz="1600" b="0" i="0" u="none" strike="noStrike" cap="none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)</a:t>
            </a:r>
            <a:r>
              <a:rPr lang="en-US" sz="1600" dirty="0">
                <a:solidFill>
                  <a:srgbClr val="DAFFDE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 :</a:t>
            </a:r>
            <a:endParaRPr sz="1800" dirty="0">
              <a:latin typeface="IDLC" pitchFamily="2" charset="0"/>
              <a:ea typeface="Urbanist" panose="020B0604020202020204" charset="0"/>
              <a:cs typeface="IDLC" pitchFamily="2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B59696F2-D5AE-29D1-A237-F4F10FF493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208749"/>
              </p:ext>
            </p:extLst>
          </p:nvPr>
        </p:nvGraphicFramePr>
        <p:xfrm>
          <a:off x="7172062" y="2756079"/>
          <a:ext cx="3794985" cy="3151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6" y="0"/>
            <a:ext cx="122205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320182"/>
            <a:ext cx="11430000" cy="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58500" y="56769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46709" y="4886920"/>
            <a:ext cx="14401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GITHUB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81000" y="5172670"/>
            <a:ext cx="13716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Create a new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repository on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GitHub.com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783496" y="3077467"/>
            <a:ext cx="14401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PROJECT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817786" y="3363217"/>
            <a:ext cx="1371600" cy="581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Create a new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R Project</a:t>
            </a:r>
          </a:p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"</a:t>
            </a:r>
            <a:r>
              <a:rPr lang="en-US" sz="1000" b="1" i="1" u="none" strike="noStrike" cap="none" dirty="0" err="1">
                <a:solidFill>
                  <a:srgbClr val="BEE395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project.Rproj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"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220283" y="4886920"/>
            <a:ext cx="14401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TERMINAL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254573" y="5172670"/>
            <a:ext cx="1371600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Open the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000" b="1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 Bash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tab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657070" y="3250703"/>
            <a:ext cx="14401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INITIALIZE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691360" y="3536453"/>
            <a:ext cx="1371600" cy="51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Setup local repo</a:t>
            </a:r>
          </a:p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b="1" dirty="0">
                <a:solidFill>
                  <a:schemeClr val="accent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 </a:t>
            </a:r>
            <a:r>
              <a:rPr lang="en-US" b="1" dirty="0" err="1">
                <a:solidFill>
                  <a:schemeClr val="accent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init</a:t>
            </a:r>
            <a:endParaRPr b="1" dirty="0">
              <a:solidFill>
                <a:schemeClr val="accent6"/>
              </a:solidFill>
              <a:latin typeface="IDLC" pitchFamily="2" charset="0"/>
              <a:ea typeface="Urbanist"/>
              <a:cs typeface="IDLC" pitchFamily="2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093856" y="4886920"/>
            <a:ext cx="14401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STAGE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128146" y="5172670"/>
            <a:ext cx="1371600" cy="51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Prepare files</a:t>
            </a:r>
          </a:p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b="1" dirty="0">
                <a:solidFill>
                  <a:schemeClr val="accent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 add .</a:t>
            </a:r>
            <a:endParaRPr b="1" dirty="0">
              <a:solidFill>
                <a:schemeClr val="accent6"/>
              </a:solidFill>
              <a:latin typeface="IDLC" pitchFamily="2" charset="0"/>
              <a:ea typeface="Urbanist"/>
              <a:cs typeface="IDLC" pitchFamily="2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530643" y="3064073"/>
            <a:ext cx="14401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COMMIT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7564932" y="3349823"/>
            <a:ext cx="1436787" cy="678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Save snapshot</a:t>
            </a:r>
          </a:p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b="1" dirty="0">
                <a:solidFill>
                  <a:schemeClr val="accent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 commit -m "msg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"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8967430" y="4886920"/>
            <a:ext cx="14401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LINK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9001720" y="5172670"/>
            <a:ext cx="1371600" cy="51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Connect GitHub</a:t>
            </a:r>
          </a:p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b="1" dirty="0">
                <a:solidFill>
                  <a:schemeClr val="accent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 remote add</a:t>
            </a:r>
            <a:endParaRPr b="1" dirty="0">
              <a:solidFill>
                <a:schemeClr val="accent6"/>
              </a:solidFill>
              <a:latin typeface="IDLC" pitchFamily="2" charset="0"/>
              <a:ea typeface="Urbanist"/>
              <a:cs typeface="IDLC" pitchFamily="2" charset="0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0404217" y="3250703"/>
            <a:ext cx="14401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PUSH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438507" y="3536453"/>
            <a:ext cx="1371600" cy="51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Publish code</a:t>
            </a:r>
          </a:p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b="1" dirty="0">
                <a:solidFill>
                  <a:schemeClr val="accent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 push origin</a:t>
            </a:r>
            <a:endParaRPr b="1" dirty="0">
              <a:solidFill>
                <a:schemeClr val="accent6"/>
              </a:solidFill>
              <a:latin typeface="IDLC" pitchFamily="2" charset="0"/>
              <a:ea typeface="Urbanist"/>
              <a:cs typeface="IDLC" pitchFamily="2" charset="0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971550" y="42392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2408336" y="42392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3845123" y="42392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5281910" y="42392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6718696" y="42392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8155483" y="42392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9592270" y="42392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11029057" y="42392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2" name="Google Shape;101;p13">
            <a:extLst>
              <a:ext uri="{FF2B5EF4-FFF2-40B4-BE49-F238E27FC236}">
                <a16:creationId xmlns:a16="http://schemas.microsoft.com/office/drawing/2014/main" id="{DB9DFDA1-5CCC-849E-5731-36073FBA3B8F}"/>
              </a:ext>
            </a:extLst>
          </p:cNvPr>
          <p:cNvSpPr txBox="1"/>
          <p:nvPr/>
        </p:nvSpPr>
        <p:spPr>
          <a:xfrm>
            <a:off x="762000" y="1077366"/>
            <a:ext cx="11401425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800" b="1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GET </a:t>
            </a:r>
            <a:r>
              <a:rPr lang="en-US" sz="4800" b="1" dirty="0">
                <a:solidFill>
                  <a:srgbClr val="DEFF9A"/>
                </a:solidFill>
                <a:latin typeface="IDLC" pitchFamily="2" charset="0"/>
                <a:ea typeface="Urbanist" panose="020B0604020202020204" charset="0"/>
                <a:cs typeface="IDLC" pitchFamily="2" charset="0"/>
                <a:sym typeface="Urbanist"/>
              </a:rPr>
              <a:t>STARTED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3" name="Google Shape;102;p13">
            <a:extLst>
              <a:ext uri="{FF2B5EF4-FFF2-40B4-BE49-F238E27FC236}">
                <a16:creationId xmlns:a16="http://schemas.microsoft.com/office/drawing/2014/main" id="{F66D0748-0211-EF43-02ED-04AB27CBC2F1}"/>
              </a:ext>
            </a:extLst>
          </p:cNvPr>
          <p:cNvSpPr/>
          <p:nvPr/>
        </p:nvSpPr>
        <p:spPr>
          <a:xfrm>
            <a:off x="571500" y="1077366"/>
            <a:ext cx="76200" cy="733425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100512"/>
            <a:ext cx="10668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08659" y="468630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BRANCH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5010150"/>
            <a:ext cx="21336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Create a sandbox to</a:t>
            </a:r>
            <a:r>
              <a:rPr lang="en-US" sz="1800" b="0" i="0" u="none" strike="noStrike" cap="none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125" b="0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isolate your feature code.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553360" y="2733675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DEVELOP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606700" y="3057525"/>
            <a:ext cx="21336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Modify scripts in RStudio.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125" b="0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Stage and save snapshots.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398061" y="468630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PUSH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451401" y="5010150"/>
            <a:ext cx="21336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Upload your branch and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125" b="0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commits to GitHub cloud.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242762" y="2733675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PULL REQUEST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296102" y="3057525"/>
            <a:ext cx="2133600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On GitHub.com, propose</a:t>
            </a:r>
            <a:r>
              <a:rPr lang="en-US" sz="1800" b="0" i="0" u="none" strike="noStrike" cap="none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125" b="0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merging code into main.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990600" y="506968"/>
            <a:ext cx="1096137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COLLABORATION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62000" y="571500"/>
            <a:ext cx="95250" cy="609600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724025" y="4010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4568725" y="4010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7413426" y="4010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0258127" y="4010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185344"/>
            <a:ext cx="51435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185344"/>
            <a:ext cx="514350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762000" y="2423219"/>
            <a:ext cx="952500" cy="238125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76300" y="2461319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00000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FIRST PUSH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032819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CONNECT TO GITHUB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3480494"/>
            <a:ext cx="51435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Link your local repository to the cloud and push your "main" branch for the first time.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286500" y="2423219"/>
            <a:ext cx="1333500" cy="238125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400800" y="2461319"/>
            <a:ext cx="11049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FEATURE BRANCH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286500" y="3032819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COLLABORATE SAFELY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286500" y="3480494"/>
            <a:ext cx="51435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Create a new work stream, save your modifications, and share them on GitHub.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962025" y="4623494"/>
            <a:ext cx="4743450" cy="625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$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git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remote add origin https://...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$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git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branch -M main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$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git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push -u origin main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486525" y="4623494"/>
            <a:ext cx="4743450" cy="83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$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git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checkout -b feature-a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# ... edits made in </a:t>
            </a:r>
            <a:r>
              <a:rPr lang="en-US" sz="1200" b="0" i="1" u="none" strike="noStrike" cap="none" dirty="0" err="1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RStudio</a:t>
            </a:r>
            <a:r>
              <a:rPr lang="en-US" sz="12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...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$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git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commit -am "added feature"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$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git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push origin feature-a</a:t>
            </a:r>
            <a:endParaRPr sz="16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62025" y="4385369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114425" y="4385369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266825" y="4385369"/>
            <a:ext cx="95250" cy="9525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6486525" y="4385369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638925" y="4385369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6791325" y="4385369"/>
            <a:ext cx="95250" cy="9525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952500" y="998339"/>
            <a:ext cx="11001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chemeClr val="bg1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TERMINAL</a:t>
            </a:r>
            <a:r>
              <a:rPr lang="en-US" sz="405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EXAMPLES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762000" y="998339"/>
            <a:ext cx="76200" cy="514350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952500" y="998339"/>
            <a:ext cx="5150643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chemeClr val="bg1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PULL</a:t>
            </a:r>
            <a:r>
              <a:rPr lang="en-US" sz="405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REQUESTS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62000" y="998339"/>
            <a:ext cx="76200" cy="514350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762000" y="1988939"/>
            <a:ext cx="5095875" cy="238125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76300" y="2027039"/>
            <a:ext cx="4867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GITHUB.COM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62000" y="2598539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FINALIZE THE REVIEW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62000" y="3189089"/>
            <a:ext cx="50958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Once your branch is pushed, head to GitHub to propose merging your code into the project.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62000" y="4046339"/>
            <a:ext cx="50958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Compare &amp; PR: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GitHub will show a banner to start the merge request.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62000" y="4655939"/>
            <a:ext cx="50958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Assign Reviewers: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Tag your teammates to check your code.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762000" y="5055989"/>
            <a:ext cx="50958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Merge: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Once approved, hit Merge to update the main project.</a:t>
            </a:r>
            <a:endParaRPr>
              <a:latin typeface="IDLC" pitchFamily="2" charset="0"/>
              <a:cs typeface="IDLC" pitchFamily="2" charset="0"/>
            </a:endParaRPr>
          </a:p>
        </p:txBody>
      </p:sp>
      <p:pic>
        <p:nvPicPr>
          <p:cNvPr id="120" name="Google Shape;12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6062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67022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070276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71525" y="2073622"/>
            <a:ext cx="13525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574702"/>
            <a:ext cx="5542508" cy="21048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71525" y="2406997"/>
            <a:ext cx="5819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WHEN CHANGES COLLIDE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2854672"/>
            <a:ext cx="5542508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Conflicts occur when two collaborators edit the exact same line of code. Git stops the merge and inserts markers inside your script.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076033" y="2112764"/>
            <a:ext cx="45616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THE 4-STEP RESOLUTION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076033" y="2531864"/>
            <a:ext cx="434444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Follow this terminal &amp; RStudio sequence to resolve conflicts perfectly: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838325" y="3774727"/>
            <a:ext cx="427568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cleanup.R</a:t>
            </a:r>
            <a:r>
              <a:rPr lang="en-US" sz="1050" b="0" i="0" u="none" strike="noStrike" cap="none">
                <a:solidFill>
                  <a:srgbClr val="6666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RStudio Editor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971550" y="4041427"/>
            <a:ext cx="514245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361783" y="2998589"/>
            <a:ext cx="405869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Find: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Open the marked file in RStudio and look for conflict headers (&lt;&lt;&lt;&lt;&lt;&lt;&lt;).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361783" y="3638550"/>
            <a:ext cx="405869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Edit: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Decide which code to keep. Manually delete all conflict markers and keep the correct line of code.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361783" y="4268985"/>
            <a:ext cx="405869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Stage: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Save the cleaned file and add it to the index using your Bash console: </a:t>
            </a:r>
            <a:r>
              <a:rPr lang="en-US" sz="1200" b="0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 add cleanup.R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361783" y="4954637"/>
            <a:ext cx="405869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Commit &amp; Push: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Save the resolution snapshot and sync to the cloud: </a:t>
            </a:r>
            <a:r>
              <a:rPr lang="en-US" sz="1200" b="0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 commit -m "Resolve conflict"</a:t>
            </a:r>
            <a:endParaRPr>
              <a:latin typeface="IDLC" pitchFamily="2" charset="0"/>
              <a:cs typeface="IDLC" pitchFamily="2" charset="0"/>
            </a:endParaRPr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4193827"/>
            <a:ext cx="24574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971550" y="4458592"/>
            <a:ext cx="5142458" cy="22666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48792" y="4403377"/>
            <a:ext cx="5047208" cy="27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 dirty="0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data &lt;- data %&gt;% filter(age &gt;= 18)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971550" y="4458592"/>
            <a:ext cx="28575" cy="226665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971550" y="4742408"/>
            <a:ext cx="666750" cy="27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666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=======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971550" y="4988123"/>
            <a:ext cx="5142458" cy="226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066800" y="4940498"/>
            <a:ext cx="5047208" cy="27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data &lt;- data %&gt;% filter(age &gt; 17 &amp; active == TRUE)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971550" y="4988123"/>
            <a:ext cx="28575" cy="226665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pic>
        <p:nvPicPr>
          <p:cNvPr id="105" name="Google Shape;105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5252888"/>
            <a:ext cx="21526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7076033" y="2998589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7076033" y="3638550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7076033" y="4268985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7076033" y="4954637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cs typeface="IDLC" pitchFamily="2" charset="0"/>
            </a:endParaRPr>
          </a:p>
        </p:txBody>
      </p:sp>
      <p:pic>
        <p:nvPicPr>
          <p:cNvPr id="110" name="Google Shape;11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1550" y="3793777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962025" y="581025"/>
            <a:ext cx="10981372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chemeClr val="bg1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HANDLING</a:t>
            </a:r>
            <a:r>
              <a:rPr lang="en-US" sz="405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CONFLICTS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771525" y="581025"/>
            <a:ext cx="76200" cy="514350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5533" y="2137916"/>
            <a:ext cx="4534941" cy="3591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7192" y="1910090"/>
            <a:ext cx="21050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24450" y="2553837"/>
            <a:ext cx="5819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FILTERING UNWANTED FILES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3135659"/>
            <a:ext cx="5542508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Not every file belongs on GitHub. A .gitignore file tells Git precisely which files, file types, or entire folders to ignore entirely.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057108" y="2337941"/>
            <a:ext cx="316334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.gitignore</a:t>
            </a:r>
            <a:r>
              <a:rPr lang="en-US" sz="1050" b="0" i="0" u="none" strike="noStrike" cap="none">
                <a:solidFill>
                  <a:srgbClr val="6666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Workspace Rules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085558" y="2604641"/>
            <a:ext cx="41348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085558" y="2757041"/>
            <a:ext cx="4134891" cy="256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# History files &amp; temp databases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.</a:t>
            </a:r>
            <a:r>
              <a:rPr lang="en-US" sz="1200" b="1" i="0" u="none" strike="noStrike" cap="none" dirty="0" err="1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Rhistory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.</a:t>
            </a:r>
            <a:r>
              <a:rPr lang="en-US" sz="1200" b="1" i="0" u="none" strike="noStrike" cap="none" dirty="0" err="1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RData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.</a:t>
            </a:r>
            <a:r>
              <a:rPr lang="en-US" sz="1200" b="1" i="0" u="none" strike="noStrike" cap="none" dirty="0" err="1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Rproj.user</a:t>
            </a:r>
            <a:r>
              <a:rPr lang="en-US" sz="12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/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# Exclude heavy raw datasets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0" i="0" u="none" strike="noStrike" cap="none" dirty="0">
                <a:solidFill>
                  <a:srgbClr val="60A5FA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data/raw/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*.csv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*.</a:t>
            </a:r>
            <a:r>
              <a:rPr lang="en-US" sz="1200" b="1" i="0" u="none" strike="noStrike" cap="none" dirty="0" err="1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rds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# Security Credentials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.</a:t>
            </a:r>
            <a:r>
              <a:rPr lang="en-US" sz="1200" b="1" i="0" u="none" strike="noStrike" cap="none" dirty="0" err="1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env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IDLC" pitchFamily="2" charset="0"/>
                <a:ea typeface="Calibri"/>
                <a:cs typeface="IDLC" pitchFamily="2" charset="0"/>
                <a:sym typeface="Calibri"/>
              </a:rPr>
            </a:br>
            <a:r>
              <a:rPr lang="en-US" sz="1200" b="1" i="0" u="none" strike="noStrike" cap="none" dirty="0" err="1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config_secret.R</a:t>
            </a:r>
            <a:endParaRPr sz="18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57275" y="3855690"/>
            <a:ext cx="525675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Avoid Big Uploads: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Prevent massive datasets (CSV, RDS) from slowing down your pushes.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57275" y="4486126"/>
            <a:ext cx="5256758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Secure Passwords: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Never push .env or secrets keys to the public cloud.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057275" y="4882306"/>
            <a:ext cx="525675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Ignore Local R junk: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Leave IDE configuration metadata behind so it doesn't clutter team file history.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71525" y="3855690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71525" y="4486126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71525" y="4882306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→</a:t>
            </a:r>
            <a:endParaRPr>
              <a:latin typeface="IDLC" pitchFamily="2" charset="0"/>
              <a:cs typeface="IDLC" pitchFamily="2" charset="0"/>
            </a:endParaRPr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85558" y="2356991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62025" y="638175"/>
            <a:ext cx="10981372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chemeClr val="bg1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KEEPING REPOS </a:t>
            </a:r>
            <a:r>
              <a:rPr lang="en-US" sz="405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CLEAN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771525" y="638175"/>
            <a:ext cx="76200" cy="514350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202" name="AccentBar"/>
          <p:cNvSpPr/>
          <p:nvPr/>
        </p:nvSpPr>
        <p:spPr>
          <a:xfrm>
            <a:off x="771525" y="533400"/>
            <a:ext cx="76200" cy="533400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203" name="SlideTitle"/>
          <p:cNvSpPr txBox="1"/>
          <p:nvPr/>
        </p:nvSpPr>
        <p:spPr>
          <a:xfrm>
            <a:off x="962025" y="523101"/>
            <a:ext cx="10600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CODING</a:t>
            </a:r>
            <a:r>
              <a:rPr lang="en-US" sz="360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CONVENTIONS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204" name="Subtitle"/>
          <p:cNvSpPr txBox="1"/>
          <p:nvPr/>
        </p:nvSpPr>
        <p:spPr>
          <a:xfrm>
            <a:off x="962025" y="1133475"/>
            <a:ext cx="106000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Write code your teammates can read, not just code that runs.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205" name="DividerLine"/>
          <p:cNvSpPr/>
          <p:nvPr/>
        </p:nvSpPr>
        <p:spPr>
          <a:xfrm>
            <a:off x="771525" y="1447800"/>
            <a:ext cx="10648950" cy="9525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206" name="CodeBlockBG"/>
          <p:cNvSpPr/>
          <p:nvPr/>
        </p:nvSpPr>
        <p:spPr>
          <a:xfrm>
            <a:off x="771525" y="1524000"/>
            <a:ext cx="4953825" cy="5030100"/>
          </a:xfrm>
          <a:prstGeom prst="rect">
            <a:avLst/>
          </a:prstGeom>
          <a:solidFill>
            <a:srgbClr val="141414"/>
          </a:solidFill>
          <a:ln w="9525">
            <a:solidFill>
              <a:srgbClr val="252525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207" name="TabBar"/>
          <p:cNvSpPr/>
          <p:nvPr/>
        </p:nvSpPr>
        <p:spPr>
          <a:xfrm>
            <a:off x="771525" y="1524000"/>
            <a:ext cx="4953825" cy="2476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208" name="ActiveTab"/>
          <p:cNvSpPr txBox="1"/>
          <p:nvPr/>
        </p:nvSpPr>
        <p:spPr>
          <a:xfrm>
            <a:off x="771525" y="1532429"/>
            <a:ext cx="1371600" cy="23079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spcFirstLastPara="1" wrap="square" lIns="114300" tIns="45700" rIns="114300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📂 project/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209" name="LeftLabel"/>
          <p:cNvSpPr txBox="1"/>
          <p:nvPr/>
        </p:nvSpPr>
        <p:spPr>
          <a:xfrm>
            <a:off x="848025" y="1540103"/>
            <a:ext cx="2000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210" name="FileTree"/>
          <p:cNvSpPr txBox="1"/>
          <p:nvPr/>
        </p:nvSpPr>
        <p:spPr>
          <a:xfrm>
            <a:off x="895350" y="1838325"/>
            <a:ext cx="4752450" cy="368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# Recommended project layout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1" i="0" u="none" strike="noStrike" cap="none" dirty="0">
                <a:solidFill>
                  <a:srgbClr val="60A5FA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project/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444444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├── </a:t>
            </a:r>
            <a:r>
              <a:rPr lang="en-US" sz="11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00_libraries.R</a:t>
            </a: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 # all library()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444444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├── </a:t>
            </a:r>
            <a:r>
              <a:rPr lang="en-US" sz="11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01_globals.R</a:t>
            </a: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  # </a:t>
            </a:r>
            <a:r>
              <a:rPr lang="en-US" sz="1100" b="0" i="1" u="none" strike="noStrike" cap="none" dirty="0" err="1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vars</a:t>
            </a: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&amp; paths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444444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├── </a:t>
            </a:r>
            <a:r>
              <a:rPr lang="en-US" sz="1100" b="1" i="0" u="none" strike="noStrike" cap="none" dirty="0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02_helpers.R</a:t>
            </a: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  # helper </a:t>
            </a:r>
            <a:r>
              <a:rPr lang="en-US" sz="1100" b="0" i="1" u="none" strike="noStrike" cap="none" dirty="0" err="1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fns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444444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├── </a:t>
            </a:r>
            <a:r>
              <a:rPr lang="en-US" sz="1100" b="1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03_analysis.R</a:t>
            </a: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 # main logic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444444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└── </a:t>
            </a:r>
            <a:r>
              <a:rPr lang="en-US" sz="1100" b="1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04_report.R</a:t>
            </a: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   # output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# 00_libraries.R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C084F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library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(</a:t>
            </a:r>
            <a:r>
              <a:rPr lang="en-US" sz="1100" b="0" i="0" u="none" strike="noStrike" cap="none" dirty="0" err="1">
                <a:solidFill>
                  <a:srgbClr val="CCCCC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tidyverse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)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C084F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library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(</a:t>
            </a:r>
            <a:r>
              <a:rPr lang="en-US" sz="1100" b="0" i="0" u="none" strike="noStrike" cap="none" dirty="0" err="1">
                <a:solidFill>
                  <a:srgbClr val="CCCCC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openxlsx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)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1" u="none" strike="noStrike" cap="none" dirty="0">
                <a:solidFill>
                  <a:srgbClr val="555555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# 01_globals.R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 err="1">
                <a:solidFill>
                  <a:srgbClr val="60A5FA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report_month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&lt;- </a:t>
            </a:r>
            <a:r>
              <a:rPr lang="en-US" sz="1100" b="0" i="0" u="none" strike="noStrike" cap="none" dirty="0">
                <a:solidFill>
                  <a:srgbClr val="86EFA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"2025-05"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  <a:t/>
            </a:r>
            <a:b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cs typeface="IDLC" pitchFamily="2" charset="0"/>
              </a:rPr>
            </a:br>
            <a:r>
              <a:rPr lang="en-US" sz="1100" b="0" i="0" u="none" strike="noStrike" cap="none" dirty="0" err="1">
                <a:solidFill>
                  <a:srgbClr val="60A5FA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output_path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  &lt;- </a:t>
            </a:r>
            <a:r>
              <a:rPr lang="en-US" sz="1100" b="0" i="0" u="none" strike="noStrike" cap="none" dirty="0">
                <a:solidFill>
                  <a:srgbClr val="86EFA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"output/"</a:t>
            </a:r>
            <a:endParaRPr sz="1800"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301" name="Card1BG"/>
          <p:cNvSpPr/>
          <p:nvPr/>
        </p:nvSpPr>
        <p:spPr>
          <a:xfrm>
            <a:off x="5943600" y="1524000"/>
            <a:ext cx="5791275" cy="1171575"/>
          </a:xfrm>
          <a:prstGeom prst="rect">
            <a:avLst/>
          </a:prstGeom>
          <a:solidFill>
            <a:srgbClr val="141414"/>
          </a:solidFill>
          <a:ln w="9525">
            <a:solidFill>
              <a:srgbClr val="1E1E1E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302" name="Card1Bar"/>
          <p:cNvSpPr/>
          <p:nvPr/>
        </p:nvSpPr>
        <p:spPr>
          <a:xfrm>
            <a:off x="5943600" y="1524000"/>
            <a:ext cx="57150" cy="1171575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303" name="Card1Text"/>
          <p:cNvSpPr txBox="1"/>
          <p:nvPr/>
        </p:nvSpPr>
        <p:spPr>
          <a:xfrm>
            <a:off x="6058800" y="1562100"/>
            <a:ext cx="5638350" cy="100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source("02_helpers.R")</a:t>
            </a:r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Helper Functions in a Separate File</a:t>
            </a: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Keep reusable functions in a dedicated file. Your main script stays lean and anyone can find logic instantly without hunting through hundreds of lines.</a:t>
            </a:r>
          </a:p>
        </p:txBody>
      </p:sp>
      <p:sp>
        <p:nvSpPr>
          <p:cNvPr id="311" name="Card2BG"/>
          <p:cNvSpPr/>
          <p:nvPr/>
        </p:nvSpPr>
        <p:spPr>
          <a:xfrm>
            <a:off x="5943600" y="2733750"/>
            <a:ext cx="5791275" cy="1171575"/>
          </a:xfrm>
          <a:prstGeom prst="rect">
            <a:avLst/>
          </a:prstGeom>
          <a:solidFill>
            <a:srgbClr val="141414"/>
          </a:solidFill>
          <a:ln w="9525">
            <a:solidFill>
              <a:srgbClr val="1E1E1E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312" name="Card2Bar"/>
          <p:cNvSpPr/>
          <p:nvPr/>
        </p:nvSpPr>
        <p:spPr>
          <a:xfrm>
            <a:off x="5943600" y="2733750"/>
            <a:ext cx="57150" cy="1171575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313" name="Card2Text"/>
          <p:cNvSpPr txBox="1"/>
          <p:nvPr/>
        </p:nvSpPr>
        <p:spPr>
          <a:xfrm>
            <a:off x="6058800" y="2771850"/>
            <a:ext cx="5638350" cy="100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0A5FA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library(tidyverse); library(DBI)</a:t>
            </a:r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All Libraries at the Top</a:t>
            </a: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Every dependency declared upfront. A teammate cloning the repo immediately sees what packages are needed before a single line runs.</a:t>
            </a:r>
          </a:p>
        </p:txBody>
      </p:sp>
      <p:sp>
        <p:nvSpPr>
          <p:cNvPr id="321" name="Card3BG"/>
          <p:cNvSpPr/>
          <p:nvPr/>
        </p:nvSpPr>
        <p:spPr>
          <a:xfrm>
            <a:off x="5943600" y="3943425"/>
            <a:ext cx="5791275" cy="1171575"/>
          </a:xfrm>
          <a:prstGeom prst="rect">
            <a:avLst/>
          </a:prstGeom>
          <a:solidFill>
            <a:srgbClr val="141414"/>
          </a:solidFill>
          <a:ln w="9525">
            <a:solidFill>
              <a:srgbClr val="1E1E1E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322" name="Card3Bar"/>
          <p:cNvSpPr/>
          <p:nvPr/>
        </p:nvSpPr>
        <p:spPr>
          <a:xfrm>
            <a:off x="5943600" y="3943425"/>
            <a:ext cx="57150" cy="1171575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323" name="Card3Text"/>
          <p:cNvSpPr txBox="1"/>
          <p:nvPr/>
        </p:nvSpPr>
        <p:spPr>
          <a:xfrm>
            <a:off x="6058800" y="3981525"/>
            <a:ext cx="5638350" cy="100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FBD2E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report_month &lt;- "2025-05"</a:t>
            </a:r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Global Variables Defined Upfront</a:t>
            </a: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Paths, dates, thresholds declared once at the top. Change a month or folder path in one place — not scattered across 12 scripts.</a:t>
            </a:r>
          </a:p>
        </p:txBody>
      </p:sp>
      <p:sp>
        <p:nvSpPr>
          <p:cNvPr id="331" name="Card4BG"/>
          <p:cNvSpPr/>
          <p:nvPr/>
        </p:nvSpPr>
        <p:spPr>
          <a:xfrm>
            <a:off x="5943600" y="5153100"/>
            <a:ext cx="5791275" cy="1171575"/>
          </a:xfrm>
          <a:prstGeom prst="rect">
            <a:avLst/>
          </a:prstGeom>
          <a:solidFill>
            <a:srgbClr val="141414"/>
          </a:solidFill>
          <a:ln w="9525">
            <a:solidFill>
              <a:srgbClr val="1E1E1E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332" name="Card4Bar"/>
          <p:cNvSpPr/>
          <p:nvPr/>
        </p:nvSpPr>
        <p:spPr>
          <a:xfrm>
            <a:off x="5943600" y="5153100"/>
            <a:ext cx="57150" cy="1171575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333" name="Card4Text"/>
          <p:cNvSpPr txBox="1"/>
          <p:nvPr/>
        </p:nvSpPr>
        <p:spPr>
          <a:xfrm>
            <a:off x="6058800" y="5191200"/>
            <a:ext cx="5638350" cy="100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084FC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calc_bucket_move() # not fn1()</a:t>
            </a:r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Descriptive Naming &amp; Comments</a:t>
            </a: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Use snake_case, name variables and functions by what they mean. Add a section comment before each logical block so reviewers navigate fast.</a:t>
            </a:r>
          </a:p>
        </p:txBody>
      </p:sp>
    </p:spTree>
    <p:extLst>
      <p:ext uri="{BB962C8B-B14F-4D97-AF65-F5344CB8AC3E}">
        <p14:creationId xmlns:p14="http://schemas.microsoft.com/office/powerpoint/2010/main" val="286026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9465" y="2019300"/>
            <a:ext cx="403100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4425" y="1966019"/>
            <a:ext cx="13144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4425" y="4711005"/>
            <a:ext cx="536064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98990" y="2028825"/>
            <a:ext cx="401195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771525" y="6215955"/>
            <a:ext cx="604644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114425" y="2451794"/>
            <a:ext cx="56286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Corporate Firewall Restrictions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14425" y="2918519"/>
            <a:ext cx="536064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Our internal network security policies currently intercept and block outbound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git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push connections to external GitHub accounts.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14425" y="3985319"/>
            <a:ext cx="536064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Impact:</a:t>
            </a:r>
            <a:r>
              <a:rPr lang="en-US" sz="1200" b="0" i="0" u="none" strike="noStrike" cap="none" dirty="0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Local commits in </a:t>
            </a:r>
            <a:r>
              <a:rPr lang="en-US" sz="1200" b="0" i="0" u="none" strike="noStrike" cap="none" dirty="0" err="1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RStudio</a:t>
            </a:r>
            <a:r>
              <a:rPr lang="en-US" sz="1200" b="0" i="0" u="none" strike="noStrike" cap="none" dirty="0">
                <a:solidFill>
                  <a:srgbClr val="888888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cannot be successfully synced to the cloud, halting the collaborative workflow.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76350" y="2042219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1343025" y="4853880"/>
            <a:ext cx="49415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CFF66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$</a:t>
            </a:r>
            <a:r>
              <a:rPr lang="en-US" sz="1125" b="0" i="0" u="none" strike="noStrike" cap="none">
                <a:solidFill>
                  <a:srgbClr val="FFFFFF"/>
                </a:solidFill>
                <a:latin typeface="IDLC" pitchFamily="2" charset="0"/>
                <a:ea typeface="JetBrains Mono"/>
                <a:cs typeface="IDLC" pitchFamily="2" charset="0"/>
                <a:sym typeface="JetBrains Mono"/>
              </a:rPr>
              <a:t>git push origin main</a:t>
            </a:r>
            <a:endParaRPr>
              <a:latin typeface="IDLC" pitchFamily="2" charset="0"/>
              <a:cs typeface="IDLC" pitchFamily="2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1000125" y="581025"/>
            <a:ext cx="10941367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chemeClr val="bg1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IMPLEMENTATION</a:t>
            </a:r>
            <a:r>
              <a:rPr lang="en-US" sz="4050" b="1" i="0" u="none" strike="noStrike" cap="none" dirty="0">
                <a:solidFill>
                  <a:srgbClr val="CCFF66"/>
                </a:solidFill>
                <a:latin typeface="IDLC" pitchFamily="2" charset="0"/>
                <a:ea typeface="Urbanist"/>
                <a:cs typeface="IDLC" pitchFamily="2" charset="0"/>
                <a:sym typeface="Urbanist"/>
              </a:rPr>
              <a:t> CHALLENGES</a:t>
            </a:r>
            <a:endParaRPr dirty="0">
              <a:latin typeface="IDLC" pitchFamily="2" charset="0"/>
              <a:cs typeface="IDLC" pitchFamily="2" charset="0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771525" y="581025"/>
            <a:ext cx="95250" cy="514350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DLC" pitchFamily="2" charset="0"/>
              <a:ea typeface="Calibri"/>
              <a:cs typeface="IDLC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225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1224</Words>
  <Application>Microsoft Office PowerPoint</Application>
  <PresentationFormat>Widescreen</PresentationFormat>
  <Paragraphs>143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IDLC</vt:lpstr>
      <vt:lpstr>JetBrains Mono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Miftahul Hoque Nobel, Kazi Md.</cp:lastModifiedBy>
  <cp:revision>26</cp:revision>
  <dcterms:modified xsi:type="dcterms:W3CDTF">2026-06-07T07:49:08Z</dcterms:modified>
</cp:coreProperties>
</file>